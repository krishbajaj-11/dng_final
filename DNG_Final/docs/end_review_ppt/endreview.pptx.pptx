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  <p:embeddedFont>
      <p:font typeface="Arimo Bold Italics" charset="1" panose="020B0704020202090204"/>
      <p:regular r:id="rId16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1"/>
    </p:embeddedFont>
    <p:embeddedFont>
      <p:font typeface="ITC Edwardian Script" charset="1" panose="02000505090000020002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 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mailto:tarunpreet@thapar.edu" TargetMode="External" Type="http://schemas.openxmlformats.org/officeDocument/2006/relationships/hyperlink"/><Relationship Id="rId5" Target="mailto:akverma@thapar.edu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https://data.csail.mit.edu/graphics/fivek/" TargetMode="External" Type="http://schemas.openxmlformats.org/officeDocument/2006/relationships/hyperlink"/><Relationship Id="rId5" Target="mailto:prism.srib@gmail.com" TargetMode="External" Type="http://schemas.openxmlformats.org/officeDocument/2006/relationships/hyperlink"/><Relationship Id="rId6" Target="https://github.ecodesamsung.com/SRIB-PRISM/25VI40TU_Multi_Level_Detail_Enhancement_Detection_for_RAW_DNG_Buffers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423" y="4881896"/>
            <a:ext cx="17387888" cy="3622024"/>
            <a:chOff x="0" y="0"/>
            <a:chExt cx="23183850" cy="4829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3850" cy="4829429"/>
            </a:xfrm>
            <a:custGeom>
              <a:avLst/>
              <a:gdLst/>
              <a:ahLst/>
              <a:cxnLst/>
              <a:rect r="r" b="b" t="t" l="l"/>
              <a:pathLst>
                <a:path h="4829429" w="23183850">
                  <a:moveTo>
                    <a:pt x="0" y="0"/>
                  </a:moveTo>
                  <a:lnTo>
                    <a:pt x="23183850" y="0"/>
                  </a:lnTo>
                  <a:lnTo>
                    <a:pt x="23183850" y="4829429"/>
                  </a:lnTo>
                  <a:lnTo>
                    <a:pt x="0" y="482942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2843" y="80886"/>
            <a:ext cx="14103277" cy="877167"/>
            <a:chOff x="0" y="0"/>
            <a:chExt cx="18804369" cy="1169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285" r="0" b="-2632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[Samsung PRISM] End Review Report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34346" y="5041211"/>
            <a:ext cx="620213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Working Team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239152" y="9655788"/>
            <a:ext cx="3048848" cy="600161"/>
            <a:chOff x="0" y="0"/>
            <a:chExt cx="4065130" cy="8002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5132" cy="800220"/>
            </a:xfrm>
            <a:custGeom>
              <a:avLst/>
              <a:gdLst/>
              <a:ahLst/>
              <a:cxnLst/>
              <a:rect r="r" b="b" t="t" l="l"/>
              <a:pathLst>
                <a:path h="800220" w="4065132">
                  <a:moveTo>
                    <a:pt x="0" y="0"/>
                  </a:moveTo>
                  <a:lnTo>
                    <a:pt x="4065132" y="0"/>
                  </a:lnTo>
                  <a:lnTo>
                    <a:pt x="4065132" y="800220"/>
                  </a:lnTo>
                  <a:lnTo>
                    <a:pt x="0" y="8002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984" r="0" b="-4898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065130" cy="81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5 Nov 2019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0" t="-38358" r="-4571" b="-5090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69897" y="5616229"/>
            <a:ext cx="15745587" cy="314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229" indent="-238115" lvl="1">
              <a:lnSpc>
                <a:spcPts val="3157"/>
              </a:lnSpc>
              <a:buAutoNum type="arabicPeriod" startAt="1"/>
            </a:pPr>
            <a:r>
              <a:rPr lang="en-US" sz="2631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College Professor(s):</a:t>
            </a:r>
          </a:p>
          <a:p>
            <a:pPr algn="l">
              <a:lnSpc>
                <a:spcPts val="2456"/>
              </a:lnSpc>
            </a:pP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       1.Dr. Tarunpreet Bhatia/</a:t>
            </a:r>
            <a:r>
              <a:rPr lang="en-US" sz="2046" u="sng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  <a:hlinkClick r:id="rId4" tooltip="mailto:tarunpreet@thapar.edu"/>
              </a:rPr>
              <a:t>tarunpreet@thapar.edu</a:t>
            </a:r>
          </a:p>
          <a:p>
            <a:pPr algn="l">
              <a:lnSpc>
                <a:spcPts val="2456"/>
              </a:lnSpc>
            </a:pP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       2.Dr. Anil Kumar/</a:t>
            </a:r>
            <a:r>
              <a:rPr lang="en-US" sz="2046" u="sng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  <a:hlinkClick r:id="rId5" tooltip="mailto:akverma@thapar.edu"/>
              </a:rPr>
              <a:t>akverma@thapar.edu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2.</a:t>
            </a:r>
            <a:r>
              <a:rPr lang="en-US" sz="2631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Students:</a:t>
            </a:r>
          </a:p>
          <a:p>
            <a:pPr algn="l" marL="1038792" indent="-346264" lvl="2">
              <a:lnSpc>
                <a:spcPts val="2456"/>
              </a:lnSpc>
              <a:buAutoNum type="arabicPeriod" startAt="1"/>
            </a:pP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Garima Goel /ggoel1_be22@thapar.edu (ENC- 4</a:t>
            </a: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th</a:t>
            </a: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year) </a:t>
            </a:r>
          </a:p>
          <a:p>
            <a:pPr algn="l" marL="1038792" indent="-346264" lvl="2">
              <a:lnSpc>
                <a:spcPts val="2456"/>
              </a:lnSpc>
              <a:buAutoNum type="arabicPeriod" startAt="1"/>
            </a:pP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Krish Bajaj/kbajaj_be23@thapar.edu(COE-3</a:t>
            </a: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rd</a:t>
            </a: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year)</a:t>
            </a:r>
          </a:p>
          <a:p>
            <a:pPr algn="l" marL="1038681" indent="-346227" lvl="2">
              <a:lnSpc>
                <a:spcPts val="2456"/>
              </a:lnSpc>
              <a:buAutoNum type="arabicPeriod" startAt="1"/>
            </a:pP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Isha Gupta/igupta_be23@thapar.edu(COE-3</a:t>
            </a: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rd</a:t>
            </a:r>
            <a:r>
              <a:rPr lang="en-US" sz="2046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year)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 3.Department of Computer Science and Engineering, TIET</a:t>
            </a:r>
          </a:p>
          <a:p>
            <a:pPr algn="l">
              <a:lnSpc>
                <a:spcPts val="3157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174394" y="1938670"/>
            <a:ext cx="15939213" cy="2140967"/>
            <a:chOff x="0" y="0"/>
            <a:chExt cx="21252284" cy="28546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52284" cy="2854623"/>
            </a:xfrm>
            <a:custGeom>
              <a:avLst/>
              <a:gdLst/>
              <a:ahLst/>
              <a:cxnLst/>
              <a:rect r="r" b="b" t="t" l="l"/>
              <a:pathLst>
                <a:path h="2854623" w="21252284">
                  <a:moveTo>
                    <a:pt x="0" y="0"/>
                  </a:moveTo>
                  <a:lnTo>
                    <a:pt x="21252284" y="0"/>
                  </a:lnTo>
                  <a:lnTo>
                    <a:pt x="21252284" y="2854623"/>
                  </a:lnTo>
                  <a:lnTo>
                    <a:pt x="0" y="2854623"/>
                  </a:lnTo>
                  <a:close/>
                </a:path>
              </a:pathLst>
            </a:custGeom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1252284" cy="2883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Multi-Level Detail </a:t>
              </a:r>
              <a:r>
                <a:rPr lang="en-US" b="true" sz="6000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 Enhancement Detection for  RAW DNG Buffers_25VI40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1" y="1021353"/>
            <a:ext cx="7518402" cy="9265647"/>
            <a:chOff x="0" y="0"/>
            <a:chExt cx="10024536" cy="12354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24491" cy="12354179"/>
            </a:xfrm>
            <a:custGeom>
              <a:avLst/>
              <a:gdLst/>
              <a:ahLst/>
              <a:cxnLst/>
              <a:rect r="r" b="b" t="t" l="l"/>
              <a:pathLst>
                <a:path h="12354179" w="10024491">
                  <a:moveTo>
                    <a:pt x="0" y="0"/>
                  </a:moveTo>
                  <a:lnTo>
                    <a:pt x="10024491" y="0"/>
                  </a:lnTo>
                  <a:lnTo>
                    <a:pt x="10024491" y="12354179"/>
                  </a:lnTo>
                  <a:lnTo>
                    <a:pt x="0" y="12354179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" y="157568"/>
            <a:ext cx="253998" cy="723796"/>
            <a:chOff x="0" y="0"/>
            <a:chExt cx="338664" cy="965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9603" y="209073"/>
            <a:ext cx="15365553" cy="600165"/>
            <a:chOff x="0" y="0"/>
            <a:chExt cx="20487404" cy="800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87404" cy="800220"/>
            </a:xfrm>
            <a:custGeom>
              <a:avLst/>
              <a:gdLst/>
              <a:ahLst/>
              <a:cxnLst/>
              <a:rect r="r" b="b" t="t" l="l"/>
              <a:pathLst>
                <a:path h="800220" w="20487404">
                  <a:moveTo>
                    <a:pt x="0" y="0"/>
                  </a:moveTo>
                  <a:lnTo>
                    <a:pt x="20487404" y="0"/>
                  </a:lnTo>
                  <a:lnTo>
                    <a:pt x="20487404" y="800220"/>
                  </a:lnTo>
                  <a:lnTo>
                    <a:pt x="0" y="800220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487404" cy="81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Multi-Level Detail Enhancement Detection for RAW DNG Buffers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70200" y="174301"/>
            <a:ext cx="2717801" cy="571293"/>
            <a:chOff x="0" y="0"/>
            <a:chExt cx="3623734" cy="761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23691" cy="761746"/>
            </a:xfrm>
            <a:custGeom>
              <a:avLst/>
              <a:gdLst/>
              <a:ahLst/>
              <a:cxnLst/>
              <a:rect r="r" b="b" t="t" l="l"/>
              <a:pathLst>
                <a:path h="761746" w="3623691">
                  <a:moveTo>
                    <a:pt x="0" y="0"/>
                  </a:moveTo>
                  <a:lnTo>
                    <a:pt x="3623691" y="0"/>
                  </a:lnTo>
                  <a:lnTo>
                    <a:pt x="3623691" y="761746"/>
                  </a:lnTo>
                  <a:lnTo>
                    <a:pt x="0" y="76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56949" y="157568"/>
            <a:ext cx="112950" cy="723796"/>
            <a:chOff x="0" y="0"/>
            <a:chExt cx="150600" cy="9650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AutoShape 13" id="13"/>
          <p:cNvSpPr/>
          <p:nvPr/>
        </p:nvSpPr>
        <p:spPr>
          <a:xfrm rot="10795438">
            <a:off x="8041632" y="7329706"/>
            <a:ext cx="9209700" cy="0"/>
          </a:xfrm>
          <a:prstGeom prst="line">
            <a:avLst/>
          </a:prstGeom>
          <a:ln cap="rnd" w="9525">
            <a:solidFill>
              <a:srgbClr val="5B9B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7915301" y="7191207"/>
            <a:ext cx="249125" cy="276998"/>
            <a:chOff x="0" y="0"/>
            <a:chExt cx="332167" cy="3693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66850" y="7191207"/>
            <a:ext cx="249125" cy="276998"/>
            <a:chOff x="0" y="0"/>
            <a:chExt cx="332167" cy="3693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018400" y="7191207"/>
            <a:ext cx="249125" cy="276998"/>
            <a:chOff x="0" y="0"/>
            <a:chExt cx="332167" cy="3693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069952" y="7191207"/>
            <a:ext cx="249125" cy="276998"/>
            <a:chOff x="0" y="0"/>
            <a:chExt cx="332167" cy="3693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2105" cy="369316"/>
            </a:xfrm>
            <a:custGeom>
              <a:avLst/>
              <a:gdLst/>
              <a:ahLst/>
              <a:cxnLst/>
              <a:rect r="r" b="b" t="t" l="l"/>
              <a:pathLst>
                <a:path h="369316" w="332105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89695" y="1359509"/>
            <a:ext cx="6762674" cy="88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B0F0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Method to detect different levels of image details improvements with 5 to 10 levels for RAW image buffer from DNG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40681" y="7610271"/>
            <a:ext cx="2653981" cy="105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Kick Off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Literature Review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56017" y="7579435"/>
            <a:ext cx="2700595" cy="127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Milestone 1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DNG processing pipeline and dataset creation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36679" y="7650063"/>
            <a:ext cx="2115669" cy="139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Closure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Dashboard development and API deployment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21033" y="892939"/>
            <a:ext cx="10575527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Expectations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Trained multi-level classification model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DNG processing pipeline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Metric visualization dashboard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REST API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Technical documentation 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Benchmark dataset,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39493" y="7553114"/>
            <a:ext cx="2700595" cy="1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Milestone 2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Model training and validation (V1)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6707" y="2645935"/>
            <a:ext cx="6762674" cy="24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B0F0"/>
                </a:solidFill>
                <a:latin typeface="Arimo Bold"/>
                <a:ea typeface="Arimo Bold"/>
                <a:cs typeface="Arimo Bold"/>
                <a:sym typeface="Arimo Bold"/>
              </a:rPr>
              <a:t>Description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study proposes a method to detect and classify improvements in image detail levels for RAW buffers extracted from DNG files, utilizing a scale of 5 to 10 levels. By analyzing structural, textural, and tonal enhancements, the approach provides a standardized metric for evaluating and optimizing RAW image processing workflows, ensuring precise and consistent visual outcomes.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621034" y="3109550"/>
            <a:ext cx="10483130" cy="190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KPI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Classification Accuracy ≥ 92%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Processing Time ≤ 1.5s per image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Inter-rater Reliability ≥ 0.85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PSNR/SSIM Correlation ≥ 0.9</a:t>
            </a:r>
          </a:p>
          <a:p>
            <a:pPr algn="l" marL="298609" indent="-149304" lvl="1">
              <a:lnSpc>
                <a:spcPts val="198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621032" y="4859256"/>
            <a:ext cx="10483130" cy="220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Pre-Requisite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 3.10+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PyTorch/TensorFlow proficiency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DNG file format specification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RAW image processing concepts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Image quality assessment metrics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augmentation techniques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4864" y="7698273"/>
            <a:ext cx="1883168" cy="37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B0F0"/>
                </a:solidFill>
                <a:latin typeface="Arimo Bold"/>
                <a:ea typeface="Arimo Bold"/>
                <a:cs typeface="Arimo Bold"/>
                <a:sym typeface="Arimo Bold"/>
              </a:rPr>
              <a:t>Work let Details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56676" y="8806612"/>
            <a:ext cx="1382705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Mentor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6780" y="8806616"/>
            <a:ext cx="1883360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Duration (Months)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2586" y="8146425"/>
            <a:ext cx="368232" cy="71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47872" y="8806614"/>
            <a:ext cx="1637715" cy="34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Members Count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25943" y="8146425"/>
            <a:ext cx="36823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13536" y="4346678"/>
            <a:ext cx="4490936" cy="281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Tech Stack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PyTorch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OpenCV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LibRAW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FastAPI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React.js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Docker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AWS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3" y="80886"/>
            <a:ext cx="14103277" cy="877167"/>
            <a:chOff x="0" y="0"/>
            <a:chExt cx="18804369" cy="1169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285" r="0" b="-2632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Approach /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" y="1209770"/>
            <a:ext cx="18288000" cy="877167"/>
            <a:chOff x="0" y="0"/>
            <a:chExt cx="24384000" cy="11695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169543"/>
            </a:xfrm>
            <a:custGeom>
              <a:avLst/>
              <a:gdLst/>
              <a:ahLst/>
              <a:cxnLst/>
              <a:rect r="r" b="b" t="t" l="l"/>
              <a:pathLst>
                <a:path h="11695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69543"/>
                  </a:lnTo>
                  <a:lnTo>
                    <a:pt x="0" y="1169543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120765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 Diagram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434340" indent="-217170" lvl="1">
                <a:lnSpc>
                  <a:spcPts val="2879"/>
                </a:lnSpc>
              </a:pP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( Clear detailed schematic / block diagram /  flow chart depicting the proposed concept / solution  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0" t="-38358" r="-4571" b="-50906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78517" y="2429837"/>
            <a:ext cx="15058309" cy="6923713"/>
          </a:xfrm>
          <a:custGeom>
            <a:avLst/>
            <a:gdLst/>
            <a:ahLst/>
            <a:cxnLst/>
            <a:rect r="r" b="b" t="t" l="l"/>
            <a:pathLst>
              <a:path h="6923713" w="15058309">
                <a:moveTo>
                  <a:pt x="0" y="0"/>
                </a:moveTo>
                <a:lnTo>
                  <a:pt x="15058309" y="0"/>
                </a:lnTo>
                <a:lnTo>
                  <a:pt x="15058309" y="6923713"/>
                </a:lnTo>
                <a:lnTo>
                  <a:pt x="0" y="6923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22" r="0" b="-238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3" y="80886"/>
            <a:ext cx="14103277" cy="877167"/>
            <a:chOff x="0" y="0"/>
            <a:chExt cx="18804369" cy="1169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285" r="0" b="-2632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Dataset(s) Analysis / Description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1209770"/>
            <a:ext cx="18288000" cy="808379"/>
            <a:chOff x="0" y="0"/>
            <a:chExt cx="24384000" cy="1077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077876"/>
            </a:xfrm>
            <a:custGeom>
              <a:avLst/>
              <a:gdLst/>
              <a:ahLst/>
              <a:cxnLst/>
              <a:rect r="r" b="b" t="t" l="l"/>
              <a:pathLst>
                <a:path h="10778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7876"/>
                  </a:lnTo>
                  <a:lnTo>
                    <a:pt x="0" y="107787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111593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Capture / Preparation / Generation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325755" indent="-162878" lvl="1">
                <a:lnSpc>
                  <a:spcPts val="2160"/>
                </a:lnSpc>
              </a:pPr>
              <a:r>
                <a:rPr lang="en-US" sz="18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" y="4243292"/>
            <a:ext cx="18288000" cy="877163"/>
            <a:chOff x="0" y="0"/>
            <a:chExt cx="24384000" cy="11695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169537"/>
            </a:xfrm>
            <a:custGeom>
              <a:avLst/>
              <a:gdLst/>
              <a:ahLst/>
              <a:cxnLst/>
              <a:rect r="r" b="b" t="t" l="l"/>
              <a:pathLst>
                <a:path h="116953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69537"/>
                  </a:lnTo>
                  <a:lnTo>
                    <a:pt x="0" y="116953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384000" cy="12076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Understanding / Analysis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325755" indent="-162878" lvl="1">
                <a:lnSpc>
                  <a:spcPts val="2160"/>
                </a:lnSpc>
              </a:pPr>
              <a:r>
                <a:rPr lang="en-US" sz="18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7276814"/>
            <a:ext cx="18288000" cy="808379"/>
            <a:chOff x="0" y="0"/>
            <a:chExt cx="24384000" cy="1077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077876"/>
            </a:xfrm>
            <a:custGeom>
              <a:avLst/>
              <a:gdLst/>
              <a:ahLst/>
              <a:cxnLst/>
              <a:rect r="r" b="b" t="t" l="l"/>
              <a:pathLst>
                <a:path h="10778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7876"/>
                  </a:lnTo>
                  <a:lnTo>
                    <a:pt x="0" y="107787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384000" cy="111593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Pre-Processing / Related Challenges (if any)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325755" indent="-162878" lvl="1">
                <a:lnSpc>
                  <a:spcPts val="2160"/>
                </a:lnSpc>
              </a:pPr>
              <a:r>
                <a:rPr lang="en-US" sz="18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0" t="-38358" r="-4571" b="-50906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56949" y="2223202"/>
            <a:ext cx="17773650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785" indent="-210392" lvl="1">
              <a:lnSpc>
                <a:spcPts val="2338"/>
              </a:lnSpc>
              <a:buFont typeface="Arial"/>
              <a:buChar char="•"/>
            </a:pPr>
            <a:r>
              <a:rPr lang="en-US" sz="1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Downloaded 5,000 RAW DNG files from the publicly available MIT-Adobe FiveK dataset (licensed for academic research); no proprietary Samsung camera data was required</a:t>
            </a:r>
          </a:p>
          <a:p>
            <a:pPr algn="l" marL="420785" indent="-210392" lvl="1">
              <a:lnSpc>
                <a:spcPts val="2338"/>
              </a:lnSpc>
              <a:buFont typeface="Arial"/>
              <a:buChar char="•"/>
            </a:pPr>
            <a:r>
              <a:rPr lang="en-US" sz="1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Synthetically generated 6 enhancement levels (L5–L10) per image by applying a progressive stack of enhancement operations — resulting in 30,000 labeled training samples from 5,000 source DNGs</a:t>
            </a:r>
          </a:p>
          <a:p>
            <a:pPr algn="l" marL="420785" indent="-210392" lvl="1">
              <a:lnSpc>
                <a:spcPts val="2338"/>
              </a:lnSpc>
              <a:buFont typeface="Arial"/>
              <a:buChar char="•"/>
            </a:pPr>
            <a:r>
              <a:rPr lang="en-US" sz="1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 level was programmatically assigned a ground-truth label based on the specific enhancement applied, ensuring a clean, reproducible labeling pipeline without manual annotation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998" y="5349059"/>
            <a:ext cx="18288000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3" indent="-210502" lvl="1">
              <a:lnSpc>
                <a:spcPts val="2339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dataset captures a meaningful quality gradient — L5 represents raw demosaiced baseline output while L10 represents fully enhanced imagery, making inter-level differences visually and statistically significant</a:t>
            </a:r>
          </a:p>
          <a:p>
            <a:pPr algn="l" marL="421003" indent="-210502" lvl="1">
              <a:lnSpc>
                <a:spcPts val="2339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Class balance is perfect (5,000 samples per level × 6 levels) — no class imbalance issues, ensuring unbiased classifier training</a:t>
            </a:r>
          </a:p>
          <a:p>
            <a:pPr algn="l" marL="421003" indent="-210502" lvl="1">
              <a:lnSpc>
                <a:spcPts val="2339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PSNR and SSIM metrics computed across levels confirmed monotonically increasing image quality, validating that the enhancement labels are well-separated and meaningful for ordinal classification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6949" y="8271196"/>
            <a:ext cx="179310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3" indent="-210502" lvl="1">
              <a:lnSpc>
                <a:spcPts val="2339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DNG decoding bottleneck: LibRAW (rawpy) decoding of 5,000 DNG files is computational-intensive.</a:t>
            </a:r>
          </a:p>
          <a:p>
            <a:pPr algn="l" marL="421003" indent="-210502" lvl="1">
              <a:lnSpc>
                <a:spcPts val="2339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Storage constraints: Full-resolution DNG images (~20–30 MB each) were downsampled to 224×224 JPEG patches during dataset build to keep total dataset size manageable (~4 GB vs ~150 GB raw)</a:t>
            </a:r>
          </a:p>
          <a:p>
            <a:pPr algn="l" marL="421003" indent="-210502" lvl="1">
              <a:lnSpc>
                <a:spcPts val="2339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Subtle inter-level differences: L5→L6 and L9→L10 transitions are perceptually close; addressed by using Ordinal Cross-Entropy loss during training which penalizes large-distance mis-predictions more heavily than adjacent-level confusion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225" y="-335012"/>
            <a:ext cx="15648565" cy="1697534"/>
            <a:chOff x="0" y="0"/>
            <a:chExt cx="20864754" cy="22633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64748" cy="2263367"/>
            </a:xfrm>
            <a:custGeom>
              <a:avLst/>
              <a:gdLst/>
              <a:ahLst/>
              <a:cxnLst/>
              <a:rect r="r" b="b" t="t" l="l"/>
              <a:pathLst>
                <a:path h="2263367" w="20864748">
                  <a:moveTo>
                    <a:pt x="0" y="0"/>
                  </a:moveTo>
                  <a:lnTo>
                    <a:pt x="20864748" y="0"/>
                  </a:lnTo>
                  <a:lnTo>
                    <a:pt x="20864748" y="2263367"/>
                  </a:lnTo>
                  <a:lnTo>
                    <a:pt x="0" y="22633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47" r="9874" b="-877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864754" cy="22824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Experimental Results / Simulations / Observations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" y="1209770"/>
            <a:ext cx="18288000" cy="556468"/>
            <a:chOff x="0" y="0"/>
            <a:chExt cx="24384000" cy="7419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741996"/>
            </a:xfrm>
            <a:custGeom>
              <a:avLst/>
              <a:gdLst/>
              <a:ahLst/>
              <a:cxnLst/>
              <a:rect r="r" b="b" t="t" l="l"/>
              <a:pathLst>
                <a:path h="7419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41996"/>
                  </a:lnTo>
                  <a:lnTo>
                    <a:pt x="0" y="74199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78005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5323837"/>
            <a:ext cx="18288000" cy="1075079"/>
            <a:chOff x="0" y="0"/>
            <a:chExt cx="24384000" cy="14334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433351"/>
            </a:xfrm>
            <a:custGeom>
              <a:avLst/>
              <a:gdLst/>
              <a:ahLst/>
              <a:cxnLst/>
              <a:rect r="r" b="b" t="t" l="l"/>
              <a:pathLst>
                <a:path h="143335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33351"/>
                  </a:lnTo>
                  <a:lnTo>
                    <a:pt x="0" y="1433351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384000" cy="147153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Major Observations / Conclusions &amp; Challenges : </a:t>
              </a:r>
            </a:p>
            <a:p>
              <a:pPr algn="just" marL="325755" indent="-162878" lvl="1">
                <a:lnSpc>
                  <a:spcPts val="2160"/>
                </a:lnSpc>
              </a:pPr>
              <a:r>
                <a:rPr lang="en-US" sz="18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</a:t>
              </a:r>
            </a:p>
            <a:p>
              <a:pPr algn="just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0" t="-38358" r="-4571" b="-50906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6998" y="1918857"/>
            <a:ext cx="8446175" cy="2892174"/>
          </a:xfrm>
          <a:custGeom>
            <a:avLst/>
            <a:gdLst/>
            <a:ahLst/>
            <a:cxnLst/>
            <a:rect r="r" b="b" t="t" l="l"/>
            <a:pathLst>
              <a:path h="2892174" w="8446175">
                <a:moveTo>
                  <a:pt x="0" y="0"/>
                </a:moveTo>
                <a:lnTo>
                  <a:pt x="8446175" y="0"/>
                </a:lnTo>
                <a:lnTo>
                  <a:pt x="8446175" y="2892174"/>
                </a:lnTo>
                <a:lnTo>
                  <a:pt x="0" y="2892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4" t="0" r="-764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470471" y="1963056"/>
            <a:ext cx="7298174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</a:t>
            </a:r>
            <a:r>
              <a:rPr lang="en-US" sz="20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 Findings: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inference runs at 205ms per image on CPU — ~7× faster than the required threshold, making it deployment-ready without GPU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Ordinal loss significantly reduced adjacent-level confusion (L7↔L8, L8↔L9) compared to standard cross-entropy baseline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ONNX export reduced model size from ~190MB (.pt) to ~1.2MB (.onnx) with no loss in prediction quality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" y="6286678"/>
            <a:ext cx="18006736" cy="400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Observations:</a:t>
            </a:r>
          </a:p>
          <a:p>
            <a:pPr algn="l" marL="469302" indent="-234651" lvl="1">
              <a:lnSpc>
                <a:spcPts val="2608"/>
              </a:lnSpc>
              <a:buFont typeface="Arial"/>
              <a:buChar char="•"/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ConvNeXt-Small's large 7×7 depthwise kernels proved superior at distinguishing subtle texture differences between enhancement levels compared to EfficientNet-B3 (our initial backbone)</a:t>
            </a:r>
          </a:p>
          <a:p>
            <a:pPr algn="l" marL="469302" indent="-234651" lvl="1">
              <a:lnSpc>
                <a:spcPts val="2608"/>
              </a:lnSpc>
              <a:buFont typeface="Arial"/>
              <a:buChar char="•"/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progressive backbone unfreezing strategy (8 epochs head-only, then full fine-tune) prevented catastrophic forgetting and stabilized training on the synthetic dataset</a:t>
            </a:r>
          </a:p>
          <a:p>
            <a:pPr algn="l">
              <a:lnSpc>
                <a:spcPts val="2608"/>
              </a:lnSpc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Challenges:</a:t>
            </a:r>
          </a:p>
          <a:p>
            <a:pPr algn="l" marL="469302" indent="-234651" lvl="1">
              <a:lnSpc>
                <a:spcPts val="2608"/>
              </a:lnSpc>
              <a:buFont typeface="Arial"/>
              <a:buChar char="•"/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L5↔L6 boundary confusion was the hardest to eliminate — CLAHE contrast enhancement is visually subtle at 224×224 resolution; partially resolved by increasing augmentation diversity</a:t>
            </a:r>
          </a:p>
          <a:p>
            <a:pPr algn="l" marL="469302" indent="-234651" lvl="1">
              <a:lnSpc>
                <a:spcPts val="2608"/>
              </a:lnSpc>
              <a:buFont typeface="Arial"/>
              <a:buChar char="•"/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DNG decoding latency was the primary bottleneck in the end-to-end pipeline (~180ms of the 205ms total) — future work could use GPU-accelerated RAW decoders</a:t>
            </a:r>
          </a:p>
          <a:p>
            <a:pPr algn="l">
              <a:lnSpc>
                <a:spcPts val="2608"/>
              </a:lnSpc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Conclusion:</a:t>
            </a:r>
          </a:p>
          <a:p>
            <a:pPr algn="l" marL="469302" indent="-234651" lvl="1">
              <a:lnSpc>
                <a:spcPts val="2608"/>
              </a:lnSpc>
              <a:buFont typeface="Arial"/>
              <a:buChar char="•"/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fully containerized, API-served classifier for RAW DNG detail level detection was successfully built and validated against all 3 project KPIs 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3" y="80886"/>
            <a:ext cx="14103277" cy="877167"/>
            <a:chOff x="0" y="0"/>
            <a:chExt cx="18804369" cy="1169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285" r="0" b="-2632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Deliverable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" y="1209770"/>
            <a:ext cx="18288000" cy="808379"/>
            <a:chOff x="0" y="0"/>
            <a:chExt cx="24384000" cy="1077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077876"/>
            </a:xfrm>
            <a:custGeom>
              <a:avLst/>
              <a:gdLst/>
              <a:ahLst/>
              <a:cxnLst/>
              <a:rect r="r" b="b" t="t" l="l"/>
              <a:pathLst>
                <a:path h="10778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7876"/>
                  </a:lnTo>
                  <a:lnTo>
                    <a:pt x="0" y="107787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111593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Deliverables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9050" y="4652486"/>
            <a:ext cx="18288000" cy="808379"/>
            <a:chOff x="0" y="0"/>
            <a:chExt cx="24384000" cy="1077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077876"/>
            </a:xfrm>
            <a:custGeom>
              <a:avLst/>
              <a:gdLst/>
              <a:ahLst/>
              <a:cxnLst/>
              <a:rect r="r" b="b" t="t" l="l"/>
              <a:pathLst>
                <a:path h="10778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7876"/>
                  </a:lnTo>
                  <a:lnTo>
                    <a:pt x="0" y="107787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384000" cy="111593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IP / Paper Publication Plan 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0" t="-38358" r="-4571" b="-5090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7264651"/>
            <a:ext cx="18288000" cy="808379"/>
            <a:chOff x="0" y="0"/>
            <a:chExt cx="24384000" cy="10778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0" cy="1077876"/>
            </a:xfrm>
            <a:custGeom>
              <a:avLst/>
              <a:gdLst/>
              <a:ahLst/>
              <a:cxnLst/>
              <a:rect r="r" b="b" t="t" l="l"/>
              <a:pathLst>
                <a:path h="10778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7876"/>
                  </a:lnTo>
                  <a:lnTo>
                    <a:pt x="0" y="107787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384000" cy="111593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KPIs delivered/Expectations Met</a:t>
              </a:r>
              <a:r>
                <a:rPr lang="en-US" sz="2400">
                  <a:solidFill>
                    <a:srgbClr val="0E40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</a:p>
            <a:p>
              <a:pPr algn="just" marL="325755" indent="-162878" lvl="1">
                <a:lnSpc>
                  <a:spcPts val="21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69897" y="2204152"/>
            <a:ext cx="17206437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DNG Processing Pipeline — End-to-end RAW buffer extraction using LibRAW (rawpy) with demosaicing, normalization, and CLAHE/Wavelet/FFT/Retinex enhancement stack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ML Classifier — ConvNeXt-Small model fine-tuned for 6-class ordinal classification of RAW DNG detail enhancement levels (L5–L10)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FastAPI REST Backend — Production-ready inference API with /classify endpoint supporting DNG, JPEG, and PNG inputs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Web Dashboard — Browser-based UI for real-time image upload and detail level visualization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Docker Container — Fully containerized deployment via docker-compose up with zero manual setup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ONNX Export — Optimized ONNX model for CPU inference at 205ms latency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Next Step: Real Samsung RAW sensor integration for on-device validation with actual DNG buffers from Galaxy camera pipeline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998" y="5627818"/>
            <a:ext cx="1725930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formal publication planned at this stage — project is focused on practical deployment and validation within the SRIB-PRISM scope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 novelty identified: The synthetic multi-level enhancement labeling pipeline (CLAHE + Wavelet + FFT + Retinex stacking) is a reusable methodology that could be extended to other RAW sensor datasets beyond MIT-Adobe FiveK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scope: If results are validated on real Samsung Galaxy RAW buffers, the approach could be considered for internal SRIB technical documentation or whitepaper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3995" y="8244479"/>
            <a:ext cx="12562528" cy="164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Inference Latency: Target ≤ 1500ms → Achieved 205ms ✅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Cohen's Kappa (Inter-rater Reliability): Target ≥ 0.85 → Achieved 0.9968 ✅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PSNR/SSIM Correlation: Target ≥ 0.90 → Achieved 0.97 ✅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Deployment: Target — Docker container → Achieved — Docker + ONNX + FastAPI REST API ✅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Dataset: Target — 500 to 1000 images → Achieved — 30,000 samples (5000 DNGs × 6 enhancement levels) ✅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2843" y="80886"/>
            <a:ext cx="14103277" cy="877167"/>
            <a:chOff x="0" y="0"/>
            <a:chExt cx="18804369" cy="1169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04364" cy="1169550"/>
            </a:xfrm>
            <a:custGeom>
              <a:avLst/>
              <a:gdLst/>
              <a:ahLst/>
              <a:cxnLst/>
              <a:rect r="r" b="b" t="t" l="l"/>
              <a:pathLst>
                <a:path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285" r="0" b="-2632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Work-let Closure Details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0" t="-38358" r="-4571" b="-509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" y="1198407"/>
            <a:ext cx="18288000" cy="784831"/>
            <a:chOff x="0" y="0"/>
            <a:chExt cx="24384000" cy="10464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046480"/>
            </a:xfrm>
            <a:custGeom>
              <a:avLst/>
              <a:gdLst/>
              <a:ahLst/>
              <a:cxnLst/>
              <a:rect r="r" b="b" t="t" l="l"/>
              <a:pathLst>
                <a:path h="104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46480"/>
                  </a:lnTo>
                  <a:lnTo>
                    <a:pt x="0" y="1046480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384000" cy="108454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Upload details:</a:t>
              </a:r>
            </a:p>
            <a:p>
              <a:pPr algn="just" marL="434340" indent="-217170" lvl="1">
                <a:lnSpc>
                  <a:spcPts val="2879"/>
                </a:lnSpc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469897" y="1983238"/>
          <a:ext cx="15125700" cy="3240499"/>
        </p:xfrm>
        <a:graphic>
          <a:graphicData uri="http://schemas.openxmlformats.org/drawingml/2006/table">
            <a:tbl>
              <a:tblPr/>
              <a:tblGrid>
                <a:gridCol w="7562850"/>
                <a:gridCol w="7562850"/>
              </a:tblGrid>
              <a:tr h="6104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Items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Details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6700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E409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KLOC (Number OF Lines of codes in 000’s) 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6104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 and Algorithm details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6104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 Mid review, end review report uploaded on Git ?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Yes — uploaded in </a:t>
                      </a: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DNG_Final/docs/</a:t>
                      </a: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folder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738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 for Git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1" y="5321741"/>
            <a:ext cx="18288000" cy="784831"/>
            <a:chOff x="0" y="0"/>
            <a:chExt cx="24384000" cy="10464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046480"/>
            </a:xfrm>
            <a:custGeom>
              <a:avLst/>
              <a:gdLst/>
              <a:ahLst/>
              <a:cxnLst/>
              <a:rect r="r" b="b" t="t" l="l"/>
              <a:pathLst>
                <a:path h="104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46480"/>
                  </a:lnTo>
                  <a:lnTo>
                    <a:pt x="0" y="1046480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384000" cy="108454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u="sng">
                  <a:solidFill>
                    <a:srgbClr val="0E40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details (if applicable):</a:t>
              </a:r>
            </a:p>
            <a:p>
              <a:pPr algn="just" marL="434340" indent="-217170" lvl="1">
                <a:lnSpc>
                  <a:spcPts val="2879"/>
                </a:lnSpc>
              </a:pP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469897" y="6287548"/>
          <a:ext cx="15068550" cy="3426522"/>
        </p:xfrm>
        <a:graphic>
          <a:graphicData uri="http://schemas.openxmlformats.org/drawingml/2006/table">
            <a:tbl>
              <a:tblPr/>
              <a:tblGrid>
                <a:gridCol w="6603178"/>
                <a:gridCol w="4360949"/>
                <a:gridCol w="4104423"/>
              </a:tblGrid>
              <a:tr h="610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Items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 folder 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 folder 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6699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E409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Name &amp; Type of Data (Audio/Image/Video)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Source RAW DNG Images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Generated Images (6 enhancement levels)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610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data points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5,000 DNG files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30,000 </a:t>
                      </a: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files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9252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Source of Data (self collected, Scrapped, available on open source)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Open source — MIT-Adobe FiveK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Self-generated using </a:t>
                      </a: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data/build_fivek_dataset.py</a:t>
                      </a: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(script in Git repo)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610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Google drive link/ git link to access data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528BFF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4" tooltip="https://data.csail.mit.edu/graphics/fivek/"/>
                        </a:rPr>
                        <a:t>https://data.csail.mit.edu/graphics/fivek/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Reproducible via build script in Git repo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5638377" y="9948372"/>
            <a:ext cx="11338560" cy="63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Note: If data uploaded on google drive, access to be shared to </a:t>
            </a:r>
            <a:r>
              <a:rPr lang="en-US" sz="1800" u="sng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mailto:prism.srib@gmail.com"/>
              </a:rPr>
              <a:t>prism.srib@gmail.com</a:t>
            </a:r>
          </a:p>
          <a:p>
            <a:pPr algn="r">
              <a:lnSpc>
                <a:spcPts val="216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351691" y="2745369"/>
            <a:ext cx="257579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2.6 KLOC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88037" y="3259719"/>
            <a:ext cx="735040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ConvNeXt-Small backbone (49.7M params, ImageNet pretrained) with Ordinal Cross-Entropy Loss. 6-class classifier for RAW DNG detail enhancement levels L5–L10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88037" y="4538151"/>
            <a:ext cx="717687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github.ecodesamsung.com/SRIB-PRISM/25VI40TU_Multi_Level_Detail_Enhancement_Detection_for_RAW_DNG_Buffers"/>
              </a:rPr>
              <a:t>https://github.ecodesamsung.com/SRIB-PRISM/25VI40TU_Multi_Level_Detail_Enhancement_Detection_for_RAW_DNG_Buffers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94821" y="790165"/>
            <a:ext cx="13735879" cy="8475288"/>
            <a:chOff x="0" y="0"/>
            <a:chExt cx="18314505" cy="113003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14504" cy="11300378"/>
            </a:xfrm>
            <a:custGeom>
              <a:avLst/>
              <a:gdLst/>
              <a:ahLst/>
              <a:cxnLst/>
              <a:rect r="r" b="b" t="t" l="l"/>
              <a:pathLst>
                <a:path h="11300378" w="18314504">
                  <a:moveTo>
                    <a:pt x="0" y="0"/>
                  </a:moveTo>
                  <a:lnTo>
                    <a:pt x="18314504" y="0"/>
                  </a:lnTo>
                  <a:lnTo>
                    <a:pt x="18314504" y="11300378"/>
                  </a:lnTo>
                  <a:lnTo>
                    <a:pt x="0" y="113003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165" t="0" r="-29165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38125"/>
              <a:ext cx="18314505" cy="11062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356"/>
                </a:lnSpc>
              </a:pPr>
              <a:r>
                <a:rPr lang="en-US" sz="20700">
                  <a:solidFill>
                    <a:srgbClr val="5B9BD5"/>
                  </a:solidFill>
                  <a:latin typeface="ITC Edwardian Script"/>
                  <a:ea typeface="ITC Edwardian Script"/>
                  <a:cs typeface="ITC Edwardian Script"/>
                  <a:sym typeface="ITC Edwardian Script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7105" y="-36919"/>
            <a:ext cx="1476823" cy="10323919"/>
            <a:chOff x="0" y="0"/>
            <a:chExt cx="1969097" cy="137652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9135" cy="13765276"/>
            </a:xfrm>
            <a:custGeom>
              <a:avLst/>
              <a:gdLst/>
              <a:ahLst/>
              <a:cxnLst/>
              <a:rect r="r" b="b" t="t" l="l"/>
              <a:pathLst>
                <a:path h="13765276" w="1969135">
                  <a:moveTo>
                    <a:pt x="0" y="0"/>
                  </a:moveTo>
                  <a:lnTo>
                    <a:pt x="1969135" y="0"/>
                  </a:lnTo>
                  <a:lnTo>
                    <a:pt x="1969135" y="13765276"/>
                  </a:lnTo>
                  <a:lnTo>
                    <a:pt x="0" y="13765276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924335" cy="10287000"/>
            <a:chOff x="0" y="0"/>
            <a:chExt cx="1232446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24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32408">
                  <a:moveTo>
                    <a:pt x="0" y="0"/>
                  </a:moveTo>
                  <a:lnTo>
                    <a:pt x="1232408" y="0"/>
                  </a:lnTo>
                  <a:lnTo>
                    <a:pt x="12324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DAHNO1AvIXY</dc:identifier>
  <dcterms:modified xsi:type="dcterms:W3CDTF">2011-08-01T06:04:30Z</dcterms:modified>
  <cp:revision>1</cp:revision>
  <dc:title>End Review Templates for PRISM (1).pptx</dc:title>
</cp:coreProperties>
</file>