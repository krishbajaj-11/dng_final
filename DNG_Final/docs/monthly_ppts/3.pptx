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Arimo" charset="1" panose="020B0604020202020204"/>
      <p:regular r:id="rId9"/>
    </p:embeddedFont>
    <p:embeddedFont>
      <p:font typeface="Arimo Bold" charset="1" panose="020B0704020202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888" y="1050617"/>
            <a:ext cx="17760763" cy="1386211"/>
            <a:chOff x="0" y="0"/>
            <a:chExt cx="23681017" cy="1848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055" cy="1848231"/>
            </a:xfrm>
            <a:custGeom>
              <a:avLst/>
              <a:gdLst/>
              <a:ahLst/>
              <a:cxnLst/>
              <a:rect r="r" b="b" t="t" l="l"/>
              <a:pathLst>
                <a:path h="1848231" w="23681055">
                  <a:moveTo>
                    <a:pt x="0" y="0"/>
                  </a:moveTo>
                  <a:lnTo>
                    <a:pt x="23681055" y="0"/>
                  </a:lnTo>
                  <a:lnTo>
                    <a:pt x="23681055" y="1848231"/>
                  </a:lnTo>
                  <a:lnTo>
                    <a:pt x="0" y="184823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2843" y="219380"/>
            <a:ext cx="15035012" cy="1070483"/>
            <a:chOff x="0" y="0"/>
            <a:chExt cx="20046683" cy="14273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46686" cy="1427317"/>
            </a:xfrm>
            <a:custGeom>
              <a:avLst/>
              <a:gdLst/>
              <a:ahLst/>
              <a:cxnLst/>
              <a:rect r="r" b="b" t="t" l="l"/>
              <a:pathLst>
                <a:path h="1427317" w="20046686">
                  <a:moveTo>
                    <a:pt x="0" y="0"/>
                  </a:moveTo>
                  <a:lnTo>
                    <a:pt x="20046686" y="0"/>
                  </a:lnTo>
                  <a:lnTo>
                    <a:pt x="20046686" y="1427317"/>
                  </a:lnTo>
                  <a:lnTo>
                    <a:pt x="0" y="14273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635" r="0" b="-20169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046683" cy="1446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Work-let Name: Multi-Level Detail Enhancement Detection for RAW DNG Buffers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51177" y="1100147"/>
            <a:ext cx="2318290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Worklet Details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9969" y="1331428"/>
            <a:ext cx="606791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Worklet ID: 25VI40TU</a:t>
            </a:r>
          </a:p>
          <a:p>
            <a:pPr algn="l" marL="325755" indent="-162878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College Name:Thapar university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60" t="-38358" r="-4571" b="-5090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0888" y="6292739"/>
            <a:ext cx="8801672" cy="2720159"/>
            <a:chOff x="0" y="0"/>
            <a:chExt cx="11735562" cy="36268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35562" cy="3626866"/>
            </a:xfrm>
            <a:custGeom>
              <a:avLst/>
              <a:gdLst/>
              <a:ahLst/>
              <a:cxnLst/>
              <a:rect r="r" b="b" t="t" l="l"/>
              <a:pathLst>
                <a:path h="3626866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626866"/>
                  </a:lnTo>
                  <a:lnTo>
                    <a:pt x="0" y="3626866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50888" y="3055687"/>
            <a:ext cx="8801672" cy="2979886"/>
            <a:chOff x="0" y="0"/>
            <a:chExt cx="11735562" cy="39731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35562" cy="3973195"/>
            </a:xfrm>
            <a:custGeom>
              <a:avLst/>
              <a:gdLst/>
              <a:ahLst/>
              <a:cxnLst/>
              <a:rect r="r" b="b" t="t" l="l"/>
              <a:pathLst>
                <a:path h="3973195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973195"/>
                  </a:lnTo>
                  <a:lnTo>
                    <a:pt x="0" y="397319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1735562" cy="399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2328" y="6419821"/>
            <a:ext cx="861879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Next Steps 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90090" y="3191961"/>
            <a:ext cx="434383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KPIs achieved till now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09989" y="6307646"/>
            <a:ext cx="8801672" cy="2697676"/>
            <a:chOff x="0" y="0"/>
            <a:chExt cx="11735562" cy="3596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35562" cy="3596889"/>
            </a:xfrm>
            <a:custGeom>
              <a:avLst/>
              <a:gdLst/>
              <a:ahLst/>
              <a:cxnLst/>
              <a:rect r="r" b="b" t="t" l="l"/>
              <a:pathLst>
                <a:path h="3596889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596889"/>
                  </a:lnTo>
                  <a:lnTo>
                    <a:pt x="0" y="3596889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735562" cy="3615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301429" y="6442243"/>
            <a:ext cx="670493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Key Achievements/ Outcome till now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71568" y="3055687"/>
            <a:ext cx="8801672" cy="2979888"/>
            <a:chOff x="0" y="0"/>
            <a:chExt cx="11735562" cy="3973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35562" cy="3973197"/>
            </a:xfrm>
            <a:custGeom>
              <a:avLst/>
              <a:gdLst/>
              <a:ahLst/>
              <a:cxnLst/>
              <a:rect r="r" b="b" t="t" l="l"/>
              <a:pathLst>
                <a:path h="3973197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973197"/>
                  </a:lnTo>
                  <a:lnTo>
                    <a:pt x="0" y="3973197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735562" cy="3992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301429" y="3201105"/>
            <a:ext cx="575873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Any Challenges/ Issues faced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060168" y="9733788"/>
            <a:ext cx="3227832" cy="553998"/>
            <a:chOff x="0" y="0"/>
            <a:chExt cx="4303776" cy="7386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03774" cy="738658"/>
            </a:xfrm>
            <a:custGeom>
              <a:avLst/>
              <a:gdLst/>
              <a:ahLst/>
              <a:cxnLst/>
              <a:rect r="r" b="b" t="t" l="l"/>
              <a:pathLst>
                <a:path h="738658" w="4303774">
                  <a:moveTo>
                    <a:pt x="0" y="0"/>
                  </a:moveTo>
                  <a:lnTo>
                    <a:pt x="4303774" y="0"/>
                  </a:lnTo>
                  <a:lnTo>
                    <a:pt x="4303774" y="738658"/>
                  </a:lnTo>
                  <a:lnTo>
                    <a:pt x="0" y="7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28" r="0" b="-635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303776" cy="757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28/04/26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53995" y="3668211"/>
            <a:ext cx="7017000" cy="25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ocessed ~5000 images (MIT-Adobe FiveK Dataset)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Two-pass pipeline (fast + efficient)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 enhancement levels per image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Used OpenCV + MTF50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301429" y="3747815"/>
            <a:ext cx="7017000" cy="18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RAW pr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ocessing overhead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Shar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pness vs noise balance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Large-scale data handling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Efficient full-res rendering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53995" y="6844304"/>
            <a:ext cx="7017000" cy="18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Optimiz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GPU utilization (PyTorch)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prove scoring model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Expand parameter space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 UI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301429" y="6961954"/>
            <a:ext cx="7017000" cy="18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End-to-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end working pipeline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eal MTF50-based evaluation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Efficient two-stage processing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nctional demo system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888" y="1050617"/>
            <a:ext cx="17760763" cy="1386211"/>
            <a:chOff x="0" y="0"/>
            <a:chExt cx="23681017" cy="1848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055" cy="1848231"/>
            </a:xfrm>
            <a:custGeom>
              <a:avLst/>
              <a:gdLst/>
              <a:ahLst/>
              <a:cxnLst/>
              <a:rect r="r" b="b" t="t" l="l"/>
              <a:pathLst>
                <a:path h="1848231" w="23681055">
                  <a:moveTo>
                    <a:pt x="0" y="0"/>
                  </a:moveTo>
                  <a:lnTo>
                    <a:pt x="23681055" y="0"/>
                  </a:lnTo>
                  <a:lnTo>
                    <a:pt x="23681055" y="1848231"/>
                  </a:lnTo>
                  <a:lnTo>
                    <a:pt x="0" y="184823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177" y="1100147"/>
            <a:ext cx="2318290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Worklet Details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0888" y="6292739"/>
            <a:ext cx="8801672" cy="2720159"/>
            <a:chOff x="0" y="0"/>
            <a:chExt cx="11735562" cy="36268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35562" cy="3626866"/>
            </a:xfrm>
            <a:custGeom>
              <a:avLst/>
              <a:gdLst/>
              <a:ahLst/>
              <a:cxnLst/>
              <a:rect r="r" b="b" t="t" l="l"/>
              <a:pathLst>
                <a:path h="3626866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626866"/>
                  </a:lnTo>
                  <a:lnTo>
                    <a:pt x="0" y="3626866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50888" y="3055687"/>
            <a:ext cx="8801672" cy="2979886"/>
            <a:chOff x="0" y="0"/>
            <a:chExt cx="11735562" cy="39731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35562" cy="3973195"/>
            </a:xfrm>
            <a:custGeom>
              <a:avLst/>
              <a:gdLst/>
              <a:ahLst/>
              <a:cxnLst/>
              <a:rect r="r" b="b" t="t" l="l"/>
              <a:pathLst>
                <a:path h="3973195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973195"/>
                  </a:lnTo>
                  <a:lnTo>
                    <a:pt x="0" y="397319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735562" cy="399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42328" y="6419821"/>
            <a:ext cx="8618792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Any Anticipated Break (Due to exams etc)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90090" y="3191961"/>
            <a:ext cx="784697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Resource Requirement Identified with Status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09989" y="6307646"/>
            <a:ext cx="8801672" cy="2697676"/>
            <a:chOff x="0" y="0"/>
            <a:chExt cx="11735562" cy="35969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35562" cy="3596889"/>
            </a:xfrm>
            <a:custGeom>
              <a:avLst/>
              <a:gdLst/>
              <a:ahLst/>
              <a:cxnLst/>
              <a:rect r="r" b="b" t="t" l="l"/>
              <a:pathLst>
                <a:path h="3596889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596889"/>
                  </a:lnTo>
                  <a:lnTo>
                    <a:pt x="0" y="3596889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735562" cy="3615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01429" y="6442243"/>
            <a:ext cx="530953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Data Collection Information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71568" y="3055687"/>
            <a:ext cx="8801672" cy="2979888"/>
            <a:chOff x="0" y="0"/>
            <a:chExt cx="11735562" cy="3973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35562" cy="3973197"/>
            </a:xfrm>
            <a:custGeom>
              <a:avLst/>
              <a:gdLst/>
              <a:ahLst/>
              <a:cxnLst/>
              <a:rect r="r" b="b" t="t" l="l"/>
              <a:pathLst>
                <a:path h="3973197" w="11735562">
                  <a:moveTo>
                    <a:pt x="0" y="0"/>
                  </a:moveTo>
                  <a:lnTo>
                    <a:pt x="11735562" y="0"/>
                  </a:lnTo>
                  <a:lnTo>
                    <a:pt x="11735562" y="3973197"/>
                  </a:lnTo>
                  <a:lnTo>
                    <a:pt x="0" y="3973197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735562" cy="3992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301429" y="3201105"/>
            <a:ext cx="8305409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Github Repository Link and PRISM Portal Registration Status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99969" y="1331428"/>
            <a:ext cx="606791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Worklet ID: 25VI40TU</a:t>
            </a:r>
          </a:p>
          <a:p>
            <a:pPr algn="l" marL="325755" indent="-162878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College Name:Thapar university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72843" y="219380"/>
            <a:ext cx="15035012" cy="1070483"/>
            <a:chOff x="0" y="0"/>
            <a:chExt cx="20046683" cy="14273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046686" cy="1427317"/>
            </a:xfrm>
            <a:custGeom>
              <a:avLst/>
              <a:gdLst/>
              <a:ahLst/>
              <a:cxnLst/>
              <a:rect r="r" b="b" t="t" l="l"/>
              <a:pathLst>
                <a:path h="1427317" w="20046686">
                  <a:moveTo>
                    <a:pt x="0" y="0"/>
                  </a:moveTo>
                  <a:lnTo>
                    <a:pt x="20046686" y="0"/>
                  </a:lnTo>
                  <a:lnTo>
                    <a:pt x="20046686" y="1427317"/>
                  </a:lnTo>
                  <a:lnTo>
                    <a:pt x="0" y="1427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635" r="0" b="-20169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0046683" cy="1446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Work-let Name: Multi-Level Detail Enhancement Detection for RAW DNG Buffers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60168" y="9733788"/>
            <a:ext cx="3227832" cy="553998"/>
            <a:chOff x="0" y="0"/>
            <a:chExt cx="4303776" cy="7386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03774" cy="738658"/>
            </a:xfrm>
            <a:custGeom>
              <a:avLst/>
              <a:gdLst/>
              <a:ahLst/>
              <a:cxnLst/>
              <a:rect r="r" b="b" t="t" l="l"/>
              <a:pathLst>
                <a:path h="738658" w="4303774">
                  <a:moveTo>
                    <a:pt x="0" y="0"/>
                  </a:moveTo>
                  <a:lnTo>
                    <a:pt x="4303774" y="0"/>
                  </a:lnTo>
                  <a:lnTo>
                    <a:pt x="4303774" y="738658"/>
                  </a:lnTo>
                  <a:lnTo>
                    <a:pt x="0" y="7386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28" r="0" b="-635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303776" cy="757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28/04/26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13423" y="3849186"/>
            <a:ext cx="7017000" cy="18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GPU 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system (available)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Libraries: OpenCV, PyTorch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Dataset: MIT-Adobe FiveK Dataset (collected)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tatus: Setup completed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342328" y="6961954"/>
            <a:ext cx="7017000" cy="74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EST’s scheduled in May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301429" y="4031826"/>
            <a:ext cx="7017000" cy="147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itHub repo: Created &amp; updated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 + scripts uploaded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PRISM por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tal: Registered &amp; active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209989" y="6961954"/>
            <a:ext cx="7017000" cy="18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taset: MIT-Adobe FiveK Dataset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Typ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e: RAW DNG images (~5000)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Source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Open-source dataset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consent required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888" y="1050617"/>
            <a:ext cx="17760763" cy="1386211"/>
            <a:chOff x="0" y="0"/>
            <a:chExt cx="23681017" cy="1848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055" cy="1848231"/>
            </a:xfrm>
            <a:custGeom>
              <a:avLst/>
              <a:gdLst/>
              <a:ahLst/>
              <a:cxnLst/>
              <a:rect r="r" b="b" t="t" l="l"/>
              <a:pathLst>
                <a:path h="1848231" w="23681055">
                  <a:moveTo>
                    <a:pt x="0" y="0"/>
                  </a:moveTo>
                  <a:lnTo>
                    <a:pt x="23681055" y="0"/>
                  </a:lnTo>
                  <a:lnTo>
                    <a:pt x="23681055" y="1848231"/>
                  </a:lnTo>
                  <a:lnTo>
                    <a:pt x="0" y="1848231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157572"/>
            <a:ext cx="253994" cy="723795"/>
            <a:chOff x="0" y="0"/>
            <a:chExt cx="338658" cy="965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09" cy="965073"/>
            </a:xfrm>
            <a:custGeom>
              <a:avLst/>
              <a:gdLst/>
              <a:ahLst/>
              <a:cxnLst/>
              <a:rect r="r" b="b" t="t" l="l"/>
              <a:pathLst>
                <a:path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6949" y="157572"/>
            <a:ext cx="112947" cy="723795"/>
            <a:chOff x="0" y="0"/>
            <a:chExt cx="150597" cy="9650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622" cy="965073"/>
            </a:xfrm>
            <a:custGeom>
              <a:avLst/>
              <a:gdLst/>
              <a:ahLst/>
              <a:cxnLst/>
              <a:rect r="r" b="b" t="t" l="l"/>
              <a:pathLst>
                <a:path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177" y="1100147"/>
            <a:ext cx="2318290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Worklet Details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13118" y="157572"/>
            <a:ext cx="1874872" cy="712365"/>
            <a:chOff x="0" y="0"/>
            <a:chExt cx="2499830" cy="949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9868" cy="949833"/>
            </a:xfrm>
            <a:custGeom>
              <a:avLst/>
              <a:gdLst/>
              <a:ahLst/>
              <a:cxnLst/>
              <a:rect r="r" b="b" t="t" l="l"/>
              <a:pathLst>
                <a:path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0" t="-38358" r="-4571" b="-509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0889" y="3055687"/>
            <a:ext cx="17760763" cy="3024196"/>
            <a:chOff x="0" y="0"/>
            <a:chExt cx="23681017" cy="40322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81055" cy="4032249"/>
            </a:xfrm>
            <a:custGeom>
              <a:avLst/>
              <a:gdLst/>
              <a:ahLst/>
              <a:cxnLst/>
              <a:rect r="r" b="b" t="t" l="l"/>
              <a:pathLst>
                <a:path h="4032249" w="23681055">
                  <a:moveTo>
                    <a:pt x="0" y="0"/>
                  </a:moveTo>
                  <a:lnTo>
                    <a:pt x="23681055" y="0"/>
                  </a:lnTo>
                  <a:lnTo>
                    <a:pt x="23681055" y="4032249"/>
                  </a:lnTo>
                  <a:lnTo>
                    <a:pt x="0" y="4032249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3681017" cy="4051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0090" y="3191961"/>
            <a:ext cx="942831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Professor Comments (To be filled in and presented by professor (Either)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50888" y="6258630"/>
            <a:ext cx="17760763" cy="3395624"/>
            <a:chOff x="0" y="0"/>
            <a:chExt cx="23681017" cy="45274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681055" cy="4527550"/>
            </a:xfrm>
            <a:custGeom>
              <a:avLst/>
              <a:gdLst/>
              <a:ahLst/>
              <a:cxnLst/>
              <a:rect r="r" b="b" t="t" l="l"/>
              <a:pathLst>
                <a:path h="4527550" w="23681055">
                  <a:moveTo>
                    <a:pt x="0" y="0"/>
                  </a:moveTo>
                  <a:lnTo>
                    <a:pt x="23681055" y="0"/>
                  </a:lnTo>
                  <a:lnTo>
                    <a:pt x="23681055" y="4527550"/>
                  </a:lnTo>
                  <a:lnTo>
                    <a:pt x="0" y="452755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13423" y="6679959"/>
            <a:ext cx="665768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COMPUTATION RESOURCE Details: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060168" y="9733788"/>
            <a:ext cx="3227832" cy="553998"/>
            <a:chOff x="0" y="0"/>
            <a:chExt cx="4303776" cy="738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03774" cy="738658"/>
            </a:xfrm>
            <a:custGeom>
              <a:avLst/>
              <a:gdLst/>
              <a:ahLst/>
              <a:cxnLst/>
              <a:rect r="r" b="b" t="t" l="l"/>
              <a:pathLst>
                <a:path h="738658" w="4303774">
                  <a:moveTo>
                    <a:pt x="0" y="0"/>
                  </a:moveTo>
                  <a:lnTo>
                    <a:pt x="4303774" y="0"/>
                  </a:lnTo>
                  <a:lnTo>
                    <a:pt x="4303774" y="738658"/>
                  </a:lnTo>
                  <a:lnTo>
                    <a:pt x="0" y="7386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28" r="0" b="-6353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303776" cy="757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28/04/26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99969" y="1331428"/>
            <a:ext cx="606791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Worklet ID: 25VI40TU</a:t>
            </a:r>
          </a:p>
          <a:p>
            <a:pPr algn="l" marL="325755" indent="-162878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College Name:Thapar university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72843" y="219380"/>
            <a:ext cx="15035012" cy="1070483"/>
            <a:chOff x="0" y="0"/>
            <a:chExt cx="20046683" cy="14273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046686" cy="1427317"/>
            </a:xfrm>
            <a:custGeom>
              <a:avLst/>
              <a:gdLst/>
              <a:ahLst/>
              <a:cxnLst/>
              <a:rect r="r" b="b" t="t" l="l"/>
              <a:pathLst>
                <a:path h="1427317" w="20046686">
                  <a:moveTo>
                    <a:pt x="0" y="0"/>
                  </a:moveTo>
                  <a:lnTo>
                    <a:pt x="20046686" y="0"/>
                  </a:lnTo>
                  <a:lnTo>
                    <a:pt x="20046686" y="1427317"/>
                  </a:lnTo>
                  <a:lnTo>
                    <a:pt x="0" y="1427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635" r="0" b="-20169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0046683" cy="1446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Work-let Name: Multi-Level Detail Enhancement Detection for RAW DNG Buffers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51177" y="7394658"/>
            <a:ext cx="7017000" cy="183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GPU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College lab / cloud (used for ex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eriments)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Tools: PyTorch,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OpenCV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Platform: Local system + GPU support</a:t>
            </a:r>
          </a:p>
          <a:p>
            <a:pPr algn="l" marL="519888" indent="-259944" lvl="1">
              <a:lnSpc>
                <a:spcPts val="2889"/>
              </a:lnSpc>
              <a:spcBef>
                <a:spcPct val="0"/>
              </a:spcBef>
              <a:buFont typeface="Arial"/>
              <a:buChar char="•"/>
            </a:pP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24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ompute: Moderate (parallel processing used)</a:t>
            </a:r>
          </a:p>
          <a:p>
            <a:pPr algn="l">
              <a:lnSpc>
                <a:spcPts val="2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DAHIHD_g1K0</dc:identifier>
  <dcterms:modified xsi:type="dcterms:W3CDTF">2011-08-01T06:04:30Z</dcterms:modified>
  <cp:revision>1</cp:revision>
  <dc:title>Monthly-Connect_template_new.pptx</dc:title>
</cp:coreProperties>
</file>