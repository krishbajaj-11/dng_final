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Arimo Bold" charset="1" panose="020B0704020202020204"/>
      <p:regular r:id="rId14"/>
    </p:embeddedFont>
    <p:embeddedFont>
      <p:font typeface="Arimo" charset="1" panose="020B0604020202020204"/>
      <p:regular r:id="rId15"/>
    </p:embeddedFont>
    <p:embeddedFont>
      <p:font typeface="Arimo Bold Italics" charset="1" panose="020B0704020202090204"/>
      <p:regular r:id="rId16"/>
    </p:embeddedFont>
    <p:embeddedFont>
      <p:font typeface="Calibri (MS)" charset="1" panose="020F0502020204030204"/>
      <p:regular r:id="rId17"/>
    </p:embeddedFont>
    <p:embeddedFont>
      <p:font typeface="Calibri (MS) Bold" charset="1" panose="020F0702030404030204"/>
      <p:regular r:id="rId18"/>
    </p:embeddedFont>
    <p:embeddedFont>
      <p:font typeface="ITC Edwardian Script" charset="1" panose="02000505090000020002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mailto:tarunpreet@thapar.edu" TargetMode="External" Type="http://schemas.openxmlformats.org/officeDocument/2006/relationships/hyperlink"/><Relationship Id="rId3" Target="mailto:akverma@thapar.edu" TargetMode="External" Type="http://schemas.openxmlformats.org/officeDocument/2006/relationships/hyperlink"/><Relationship Id="rId4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3424" y="4881896"/>
            <a:ext cx="17387883" cy="3622026"/>
            <a:chOff x="0" y="0"/>
            <a:chExt cx="23183844" cy="48293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183850" cy="4829429"/>
            </a:xfrm>
            <a:custGeom>
              <a:avLst/>
              <a:gdLst/>
              <a:ahLst/>
              <a:cxnLst/>
              <a:rect r="r" b="b" t="t" l="l"/>
              <a:pathLst>
                <a:path h="4829429" w="23183850">
                  <a:moveTo>
                    <a:pt x="0" y="0"/>
                  </a:moveTo>
                  <a:lnTo>
                    <a:pt x="23183850" y="0"/>
                  </a:lnTo>
                  <a:lnTo>
                    <a:pt x="23183850" y="4829429"/>
                  </a:lnTo>
                  <a:lnTo>
                    <a:pt x="0" y="4829429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" y="157568"/>
            <a:ext cx="253998" cy="723796"/>
            <a:chOff x="0" y="0"/>
            <a:chExt cx="338664" cy="9650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8709" cy="965073"/>
            </a:xfrm>
            <a:custGeom>
              <a:avLst/>
              <a:gdLst/>
              <a:ahLst/>
              <a:cxnLst/>
              <a:rect r="r" b="b" t="t" l="l"/>
              <a:pathLst>
                <a:path h="965073" w="338709">
                  <a:moveTo>
                    <a:pt x="0" y="0"/>
                  </a:moveTo>
                  <a:lnTo>
                    <a:pt x="338709" y="0"/>
                  </a:lnTo>
                  <a:lnTo>
                    <a:pt x="338709" y="965073"/>
                  </a:lnTo>
                  <a:lnTo>
                    <a:pt x="0" y="965073"/>
                  </a:lnTo>
                  <a:close/>
                </a:path>
              </a:pathLst>
            </a:custGeom>
            <a:solidFill>
              <a:srgbClr val="0E409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72847" y="80883"/>
            <a:ext cx="14103273" cy="877162"/>
            <a:chOff x="0" y="0"/>
            <a:chExt cx="18804364" cy="11695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804364" cy="1169550"/>
            </a:xfrm>
            <a:custGeom>
              <a:avLst/>
              <a:gdLst/>
              <a:ahLst/>
              <a:cxnLst/>
              <a:rect r="r" b="b" t="t" l="l"/>
              <a:pathLst>
                <a:path h="1169550" w="18804364">
                  <a:moveTo>
                    <a:pt x="0" y="0"/>
                  </a:moveTo>
                  <a:lnTo>
                    <a:pt x="18804364" y="0"/>
                  </a:lnTo>
                  <a:lnTo>
                    <a:pt x="18804364" y="1169550"/>
                  </a:lnTo>
                  <a:lnTo>
                    <a:pt x="0" y="1169550"/>
                  </a:lnTo>
                  <a:close/>
                </a:path>
              </a:pathLst>
            </a:custGeom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8804364" cy="1188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[Samsung PRISM] Preliminary Discussion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56949" y="157568"/>
            <a:ext cx="112950" cy="723796"/>
            <a:chOff x="0" y="0"/>
            <a:chExt cx="150600" cy="96506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0622" cy="965073"/>
            </a:xfrm>
            <a:custGeom>
              <a:avLst/>
              <a:gdLst/>
              <a:ahLst/>
              <a:cxnLst/>
              <a:rect r="r" b="b" t="t" l="l"/>
              <a:pathLst>
                <a:path h="965073" w="150622">
                  <a:moveTo>
                    <a:pt x="0" y="0"/>
                  </a:moveTo>
                  <a:lnTo>
                    <a:pt x="150622" y="0"/>
                  </a:lnTo>
                  <a:lnTo>
                    <a:pt x="150622" y="965073"/>
                  </a:lnTo>
                  <a:lnTo>
                    <a:pt x="0" y="965073"/>
                  </a:lnTo>
                  <a:close/>
                </a:path>
              </a:pathLst>
            </a:custGeom>
            <a:solidFill>
              <a:srgbClr val="BFBFBF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544021" y="5041662"/>
            <a:ext cx="1499741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Team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99806" y="5632534"/>
            <a:ext cx="16155681" cy="322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8632" indent="-244316" lvl="1">
              <a:lnSpc>
                <a:spcPts val="3240"/>
              </a:lnSpc>
              <a:buAutoNum type="arabicPeriod" startAt="1"/>
            </a:pPr>
            <a:r>
              <a:rPr lang="en-US" sz="2700">
                <a:solidFill>
                  <a:srgbClr val="0E4094"/>
                </a:solidFill>
                <a:latin typeface="Arimo"/>
                <a:ea typeface="Arimo"/>
                <a:cs typeface="Arimo"/>
                <a:sym typeface="Arimo"/>
              </a:rPr>
              <a:t>College Professor(s):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E4094"/>
                </a:solidFill>
                <a:latin typeface="Arimo"/>
                <a:ea typeface="Arimo"/>
                <a:cs typeface="Arimo"/>
                <a:sym typeface="Arimo"/>
              </a:rPr>
              <a:t>         1.Dr. Tarunpreet Bhatia/</a:t>
            </a:r>
            <a:r>
              <a:rPr lang="en-US" sz="2100" u="sng">
                <a:solidFill>
                  <a:srgbClr val="0E4094"/>
                </a:solidFill>
                <a:latin typeface="Arimo"/>
                <a:ea typeface="Arimo"/>
                <a:cs typeface="Arimo"/>
                <a:sym typeface="Arimo"/>
                <a:hlinkClick r:id="rId2" tooltip="mailto:tarunpreet@thapar.edu"/>
              </a:rPr>
              <a:t>tarunpreet@thapar.edu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E4094"/>
                </a:solidFill>
                <a:latin typeface="Arimo"/>
                <a:ea typeface="Arimo"/>
                <a:cs typeface="Arimo"/>
                <a:sym typeface="Arimo"/>
              </a:rPr>
              <a:t>         2.Dr. Anil Kumar/</a:t>
            </a:r>
            <a:r>
              <a:rPr lang="en-US" sz="2100" u="sng">
                <a:solidFill>
                  <a:srgbClr val="0E4094"/>
                </a:solidFill>
                <a:latin typeface="Arimo"/>
                <a:ea typeface="Arimo"/>
                <a:cs typeface="Arimo"/>
                <a:sym typeface="Arimo"/>
                <a:hlinkClick r:id="rId3" tooltip="mailto:akverma@thapar.edu"/>
              </a:rPr>
              <a:t>akverma@thapar.edu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E4094"/>
                </a:solidFill>
                <a:latin typeface="Arimo"/>
                <a:ea typeface="Arimo"/>
                <a:cs typeface="Arimo"/>
                <a:sym typeface="Arimo"/>
              </a:rPr>
              <a:t>  2.</a:t>
            </a:r>
            <a:r>
              <a:rPr lang="en-US" sz="2700">
                <a:solidFill>
                  <a:srgbClr val="0E4094"/>
                </a:solidFill>
                <a:latin typeface="Arimo"/>
                <a:ea typeface="Arimo"/>
                <a:cs typeface="Arimo"/>
                <a:sym typeface="Arimo"/>
              </a:rPr>
              <a:t>Students:</a:t>
            </a:r>
          </a:p>
          <a:p>
            <a:pPr algn="l" marL="1065848" indent="-355282" lvl="2">
              <a:lnSpc>
                <a:spcPts val="2520"/>
              </a:lnSpc>
              <a:buAutoNum type="arabicPeriod" startAt="1"/>
            </a:pPr>
            <a:r>
              <a:rPr lang="en-US" sz="2100">
                <a:solidFill>
                  <a:srgbClr val="0E4094"/>
                </a:solidFill>
                <a:latin typeface="Arimo"/>
                <a:ea typeface="Arimo"/>
                <a:cs typeface="Arimo"/>
                <a:sym typeface="Arimo"/>
              </a:rPr>
              <a:t>Garima Goel /ggoel1_be22@thapar.edu (ENC- 4</a:t>
            </a:r>
            <a:r>
              <a:rPr lang="en-US" sz="2100">
                <a:solidFill>
                  <a:srgbClr val="0E4094"/>
                </a:solidFill>
                <a:latin typeface="Arimo"/>
                <a:ea typeface="Arimo"/>
                <a:cs typeface="Arimo"/>
                <a:sym typeface="Arimo"/>
              </a:rPr>
              <a:t>th</a:t>
            </a:r>
            <a:r>
              <a:rPr lang="en-US" sz="2100">
                <a:solidFill>
                  <a:srgbClr val="0E4094"/>
                </a:solidFill>
                <a:latin typeface="Arimo"/>
                <a:ea typeface="Arimo"/>
                <a:cs typeface="Arimo"/>
                <a:sym typeface="Arimo"/>
              </a:rPr>
              <a:t> year) </a:t>
            </a:r>
          </a:p>
          <a:p>
            <a:pPr algn="l" marL="1065848" indent="-355282" lvl="2">
              <a:lnSpc>
                <a:spcPts val="2520"/>
              </a:lnSpc>
              <a:buAutoNum type="arabicPeriod" startAt="1"/>
            </a:pPr>
            <a:r>
              <a:rPr lang="en-US" sz="2100">
                <a:solidFill>
                  <a:srgbClr val="0E4094"/>
                </a:solidFill>
                <a:latin typeface="Arimo"/>
                <a:ea typeface="Arimo"/>
                <a:cs typeface="Arimo"/>
                <a:sym typeface="Arimo"/>
              </a:rPr>
              <a:t>Krish Bajaj/kbajaj_be23@thapar.edu(COE-3</a:t>
            </a:r>
            <a:r>
              <a:rPr lang="en-US" sz="2100">
                <a:solidFill>
                  <a:srgbClr val="0E4094"/>
                </a:solidFill>
                <a:latin typeface="Arimo"/>
                <a:ea typeface="Arimo"/>
                <a:cs typeface="Arimo"/>
                <a:sym typeface="Arimo"/>
              </a:rPr>
              <a:t>rd</a:t>
            </a:r>
            <a:r>
              <a:rPr lang="en-US" sz="2100">
                <a:solidFill>
                  <a:srgbClr val="0E4094"/>
                </a:solidFill>
                <a:latin typeface="Arimo"/>
                <a:ea typeface="Arimo"/>
                <a:cs typeface="Arimo"/>
                <a:sym typeface="Arimo"/>
              </a:rPr>
              <a:t> year)</a:t>
            </a:r>
          </a:p>
          <a:p>
            <a:pPr algn="l" marL="1065733" indent="-355244" lvl="2">
              <a:lnSpc>
                <a:spcPts val="2520"/>
              </a:lnSpc>
              <a:buAutoNum type="arabicPeriod" startAt="1"/>
            </a:pPr>
            <a:r>
              <a:rPr lang="en-US" sz="2100">
                <a:solidFill>
                  <a:srgbClr val="0E4094"/>
                </a:solidFill>
                <a:latin typeface="Arimo"/>
                <a:ea typeface="Arimo"/>
                <a:cs typeface="Arimo"/>
                <a:sym typeface="Arimo"/>
              </a:rPr>
              <a:t>Isha Gupta/igupta_be23@thapar.edu(COE-3</a:t>
            </a:r>
            <a:r>
              <a:rPr lang="en-US" sz="2100">
                <a:solidFill>
                  <a:srgbClr val="0E4094"/>
                </a:solidFill>
                <a:latin typeface="Arimo"/>
                <a:ea typeface="Arimo"/>
                <a:cs typeface="Arimo"/>
                <a:sym typeface="Arimo"/>
              </a:rPr>
              <a:t>rd</a:t>
            </a:r>
            <a:r>
              <a:rPr lang="en-US" sz="2100">
                <a:solidFill>
                  <a:srgbClr val="0E4094"/>
                </a:solidFill>
                <a:latin typeface="Arimo"/>
                <a:ea typeface="Arimo"/>
                <a:cs typeface="Arimo"/>
                <a:sym typeface="Arimo"/>
              </a:rPr>
              <a:t> year)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E4094"/>
                </a:solidFill>
                <a:latin typeface="Arimo"/>
                <a:ea typeface="Arimo"/>
                <a:cs typeface="Arimo"/>
                <a:sym typeface="Arimo"/>
              </a:rPr>
              <a:t>  3.Department of Computer Science and Engineering, TIET</a:t>
            </a:r>
          </a:p>
          <a:p>
            <a:pPr algn="l">
              <a:lnSpc>
                <a:spcPts val="3240"/>
              </a:lnSpc>
            </a:pPr>
          </a:p>
        </p:txBody>
      </p:sp>
      <p:grpSp>
        <p:nvGrpSpPr>
          <p:cNvPr name="Group 13" id="13"/>
          <p:cNvGrpSpPr/>
          <p:nvPr/>
        </p:nvGrpSpPr>
        <p:grpSpPr>
          <a:xfrm rot="0">
            <a:off x="16413121" y="157568"/>
            <a:ext cx="1874877" cy="712365"/>
            <a:chOff x="0" y="0"/>
            <a:chExt cx="2499836" cy="9498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99868" cy="949833"/>
            </a:xfrm>
            <a:custGeom>
              <a:avLst/>
              <a:gdLst/>
              <a:ahLst/>
              <a:cxnLst/>
              <a:rect r="r" b="b" t="t" l="l"/>
              <a:pathLst>
                <a:path h="949833" w="2499868">
                  <a:moveTo>
                    <a:pt x="0" y="0"/>
                  </a:moveTo>
                  <a:lnTo>
                    <a:pt x="2499868" y="0"/>
                  </a:lnTo>
                  <a:lnTo>
                    <a:pt x="2499868" y="949833"/>
                  </a:lnTo>
                  <a:lnTo>
                    <a:pt x="0" y="9498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960" t="-38358" r="-4571" b="-50906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74394" y="1938670"/>
            <a:ext cx="15939213" cy="2140967"/>
            <a:chOff x="0" y="0"/>
            <a:chExt cx="21252284" cy="285462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252284" cy="2854623"/>
            </a:xfrm>
            <a:custGeom>
              <a:avLst/>
              <a:gdLst/>
              <a:ahLst/>
              <a:cxnLst/>
              <a:rect r="r" b="b" t="t" l="l"/>
              <a:pathLst>
                <a:path h="2854623" w="21252284">
                  <a:moveTo>
                    <a:pt x="0" y="0"/>
                  </a:moveTo>
                  <a:lnTo>
                    <a:pt x="21252284" y="0"/>
                  </a:lnTo>
                  <a:lnTo>
                    <a:pt x="21252284" y="2854623"/>
                  </a:lnTo>
                  <a:lnTo>
                    <a:pt x="0" y="2854623"/>
                  </a:lnTo>
                  <a:close/>
                </a:path>
              </a:pathLst>
            </a:custGeom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21252284" cy="28831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b="true" sz="6000" i="true">
                  <a:solidFill>
                    <a:srgbClr val="000000"/>
                  </a:solidFill>
                  <a:latin typeface="Arimo Bold Italics"/>
                  <a:ea typeface="Arimo Bold Italics"/>
                  <a:cs typeface="Arimo Bold Italics"/>
                  <a:sym typeface="Arimo Bold Italics"/>
                </a:rPr>
                <a:t>Multi-Level Detail </a:t>
              </a:r>
              <a:r>
                <a:rPr lang="en-US" b="true" sz="6000" i="true">
                  <a:solidFill>
                    <a:srgbClr val="000000"/>
                  </a:solidFill>
                  <a:latin typeface="Arimo Bold Italics"/>
                  <a:ea typeface="Arimo Bold Italics"/>
                  <a:cs typeface="Arimo Bold Italics"/>
                  <a:sym typeface="Arimo Bold Italics"/>
                </a:rPr>
                <a:t> Enhancement Detection for  RAW DNG Buffers_25VI40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471" y="1021353"/>
            <a:ext cx="7518402" cy="9265647"/>
            <a:chOff x="0" y="0"/>
            <a:chExt cx="10024536" cy="123541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024491" cy="12354179"/>
            </a:xfrm>
            <a:custGeom>
              <a:avLst/>
              <a:gdLst/>
              <a:ahLst/>
              <a:cxnLst/>
              <a:rect r="r" b="b" t="t" l="l"/>
              <a:pathLst>
                <a:path h="12354179" w="10024491">
                  <a:moveTo>
                    <a:pt x="0" y="0"/>
                  </a:moveTo>
                  <a:lnTo>
                    <a:pt x="10024491" y="0"/>
                  </a:lnTo>
                  <a:lnTo>
                    <a:pt x="10024491" y="12354179"/>
                  </a:lnTo>
                  <a:lnTo>
                    <a:pt x="0" y="12354179"/>
                  </a:lnTo>
                  <a:close/>
                </a:path>
              </a:pathLst>
            </a:custGeom>
            <a:solidFill>
              <a:srgbClr val="40404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" y="157568"/>
            <a:ext cx="253998" cy="723796"/>
            <a:chOff x="0" y="0"/>
            <a:chExt cx="338664" cy="9650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8709" cy="965073"/>
            </a:xfrm>
            <a:custGeom>
              <a:avLst/>
              <a:gdLst/>
              <a:ahLst/>
              <a:cxnLst/>
              <a:rect r="r" b="b" t="t" l="l"/>
              <a:pathLst>
                <a:path h="965073" w="338709">
                  <a:moveTo>
                    <a:pt x="0" y="0"/>
                  </a:moveTo>
                  <a:lnTo>
                    <a:pt x="338709" y="0"/>
                  </a:lnTo>
                  <a:lnTo>
                    <a:pt x="338709" y="965073"/>
                  </a:lnTo>
                  <a:lnTo>
                    <a:pt x="0" y="965073"/>
                  </a:lnTo>
                  <a:close/>
                </a:path>
              </a:pathLst>
            </a:custGeom>
            <a:solidFill>
              <a:srgbClr val="0E409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79604" y="209073"/>
            <a:ext cx="15365553" cy="600165"/>
            <a:chOff x="0" y="0"/>
            <a:chExt cx="20487404" cy="8002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487404" cy="800220"/>
            </a:xfrm>
            <a:custGeom>
              <a:avLst/>
              <a:gdLst/>
              <a:ahLst/>
              <a:cxnLst/>
              <a:rect r="r" b="b" t="t" l="l"/>
              <a:pathLst>
                <a:path h="800220" w="20487404">
                  <a:moveTo>
                    <a:pt x="0" y="0"/>
                  </a:moveTo>
                  <a:lnTo>
                    <a:pt x="20487404" y="0"/>
                  </a:lnTo>
                  <a:lnTo>
                    <a:pt x="20487404" y="800220"/>
                  </a:lnTo>
                  <a:lnTo>
                    <a:pt x="0" y="800220"/>
                  </a:lnTo>
                  <a:close/>
                </a:path>
              </a:pathLst>
            </a:custGeom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0487404" cy="819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Multi-Level Detail Enhancement Detection for RAW DNG Buffers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570199" y="174302"/>
            <a:ext cx="2717801" cy="571293"/>
            <a:chOff x="0" y="0"/>
            <a:chExt cx="3623734" cy="76172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623691" cy="761746"/>
            </a:xfrm>
            <a:custGeom>
              <a:avLst/>
              <a:gdLst/>
              <a:ahLst/>
              <a:cxnLst/>
              <a:rect r="r" b="b" t="t" l="l"/>
              <a:pathLst>
                <a:path h="761746" w="3623691">
                  <a:moveTo>
                    <a:pt x="0" y="0"/>
                  </a:moveTo>
                  <a:lnTo>
                    <a:pt x="3623691" y="0"/>
                  </a:lnTo>
                  <a:lnTo>
                    <a:pt x="3623691" y="761746"/>
                  </a:lnTo>
                  <a:lnTo>
                    <a:pt x="0" y="761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1" b="2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56949" y="157568"/>
            <a:ext cx="112950" cy="723796"/>
            <a:chOff x="0" y="0"/>
            <a:chExt cx="150600" cy="96506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0622" cy="965073"/>
            </a:xfrm>
            <a:custGeom>
              <a:avLst/>
              <a:gdLst/>
              <a:ahLst/>
              <a:cxnLst/>
              <a:rect r="r" b="b" t="t" l="l"/>
              <a:pathLst>
                <a:path h="965073" w="150622">
                  <a:moveTo>
                    <a:pt x="0" y="0"/>
                  </a:moveTo>
                  <a:lnTo>
                    <a:pt x="150622" y="0"/>
                  </a:lnTo>
                  <a:lnTo>
                    <a:pt x="150622" y="965073"/>
                  </a:lnTo>
                  <a:lnTo>
                    <a:pt x="0" y="965073"/>
                  </a:lnTo>
                  <a:close/>
                </a:path>
              </a:pathLst>
            </a:custGeom>
            <a:solidFill>
              <a:srgbClr val="BFBFBF"/>
            </a:solidFill>
          </p:spPr>
        </p:sp>
      </p:grpSp>
      <p:sp>
        <p:nvSpPr>
          <p:cNvPr name="AutoShape 13" id="13"/>
          <p:cNvSpPr/>
          <p:nvPr/>
        </p:nvSpPr>
        <p:spPr>
          <a:xfrm rot="10795438">
            <a:off x="8041632" y="7329706"/>
            <a:ext cx="9209700" cy="0"/>
          </a:xfrm>
          <a:prstGeom prst="line">
            <a:avLst/>
          </a:prstGeom>
          <a:ln cap="rnd" w="9525">
            <a:solidFill>
              <a:srgbClr val="5B9BD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7915301" y="7191207"/>
            <a:ext cx="249125" cy="276998"/>
            <a:chOff x="0" y="0"/>
            <a:chExt cx="332167" cy="36933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32105" cy="369316"/>
            </a:xfrm>
            <a:custGeom>
              <a:avLst/>
              <a:gdLst/>
              <a:ahLst/>
              <a:cxnLst/>
              <a:rect r="r" b="b" t="t" l="l"/>
              <a:pathLst>
                <a:path h="369316" w="332105">
                  <a:moveTo>
                    <a:pt x="0" y="184658"/>
                  </a:moveTo>
                  <a:cubicBezTo>
                    <a:pt x="0" y="82677"/>
                    <a:pt x="74295" y="0"/>
                    <a:pt x="166116" y="0"/>
                  </a:cubicBezTo>
                  <a:cubicBezTo>
                    <a:pt x="257937" y="0"/>
                    <a:pt x="332105" y="82677"/>
                    <a:pt x="332105" y="184658"/>
                  </a:cubicBezTo>
                  <a:cubicBezTo>
                    <a:pt x="332105" y="286639"/>
                    <a:pt x="257810" y="369316"/>
                    <a:pt x="166116" y="369316"/>
                  </a:cubicBezTo>
                  <a:cubicBezTo>
                    <a:pt x="74422" y="369316"/>
                    <a:pt x="0" y="286639"/>
                    <a:pt x="0" y="184658"/>
                  </a:cubicBezTo>
                  <a:close/>
                </a:path>
              </a:pathLst>
            </a:custGeom>
            <a:solidFill>
              <a:srgbClr val="92D050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966850" y="7191207"/>
            <a:ext cx="249125" cy="276998"/>
            <a:chOff x="0" y="0"/>
            <a:chExt cx="332167" cy="36933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32105" cy="369316"/>
            </a:xfrm>
            <a:custGeom>
              <a:avLst/>
              <a:gdLst/>
              <a:ahLst/>
              <a:cxnLst/>
              <a:rect r="r" b="b" t="t" l="l"/>
              <a:pathLst>
                <a:path h="369316" w="332105">
                  <a:moveTo>
                    <a:pt x="0" y="184658"/>
                  </a:moveTo>
                  <a:cubicBezTo>
                    <a:pt x="0" y="82677"/>
                    <a:pt x="74295" y="0"/>
                    <a:pt x="166116" y="0"/>
                  </a:cubicBezTo>
                  <a:cubicBezTo>
                    <a:pt x="257937" y="0"/>
                    <a:pt x="332105" y="82677"/>
                    <a:pt x="332105" y="184658"/>
                  </a:cubicBezTo>
                  <a:cubicBezTo>
                    <a:pt x="332105" y="286639"/>
                    <a:pt x="257810" y="369316"/>
                    <a:pt x="166116" y="369316"/>
                  </a:cubicBezTo>
                  <a:cubicBezTo>
                    <a:pt x="74422" y="369316"/>
                    <a:pt x="0" y="286639"/>
                    <a:pt x="0" y="184658"/>
                  </a:cubicBezTo>
                  <a:close/>
                </a:path>
              </a:pathLst>
            </a:custGeom>
            <a:solidFill>
              <a:srgbClr val="92D05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4018400" y="7191207"/>
            <a:ext cx="249125" cy="276998"/>
            <a:chOff x="0" y="0"/>
            <a:chExt cx="332167" cy="36933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32105" cy="369316"/>
            </a:xfrm>
            <a:custGeom>
              <a:avLst/>
              <a:gdLst/>
              <a:ahLst/>
              <a:cxnLst/>
              <a:rect r="r" b="b" t="t" l="l"/>
              <a:pathLst>
                <a:path h="369316" w="332105">
                  <a:moveTo>
                    <a:pt x="0" y="184658"/>
                  </a:moveTo>
                  <a:cubicBezTo>
                    <a:pt x="0" y="82677"/>
                    <a:pt x="74295" y="0"/>
                    <a:pt x="166116" y="0"/>
                  </a:cubicBezTo>
                  <a:cubicBezTo>
                    <a:pt x="257937" y="0"/>
                    <a:pt x="332105" y="82677"/>
                    <a:pt x="332105" y="184658"/>
                  </a:cubicBezTo>
                  <a:cubicBezTo>
                    <a:pt x="332105" y="286639"/>
                    <a:pt x="257810" y="369316"/>
                    <a:pt x="166116" y="369316"/>
                  </a:cubicBezTo>
                  <a:cubicBezTo>
                    <a:pt x="74422" y="369316"/>
                    <a:pt x="0" y="286639"/>
                    <a:pt x="0" y="184658"/>
                  </a:cubicBezTo>
                  <a:close/>
                </a:path>
              </a:pathLst>
            </a:custGeom>
            <a:solidFill>
              <a:srgbClr val="92D05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7069952" y="7191207"/>
            <a:ext cx="249125" cy="276998"/>
            <a:chOff x="0" y="0"/>
            <a:chExt cx="332167" cy="36933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32105" cy="369316"/>
            </a:xfrm>
            <a:custGeom>
              <a:avLst/>
              <a:gdLst/>
              <a:ahLst/>
              <a:cxnLst/>
              <a:rect r="r" b="b" t="t" l="l"/>
              <a:pathLst>
                <a:path h="369316" w="332105">
                  <a:moveTo>
                    <a:pt x="0" y="184658"/>
                  </a:moveTo>
                  <a:cubicBezTo>
                    <a:pt x="0" y="82677"/>
                    <a:pt x="74295" y="0"/>
                    <a:pt x="166116" y="0"/>
                  </a:cubicBezTo>
                  <a:cubicBezTo>
                    <a:pt x="257937" y="0"/>
                    <a:pt x="332105" y="82677"/>
                    <a:pt x="332105" y="184658"/>
                  </a:cubicBezTo>
                  <a:cubicBezTo>
                    <a:pt x="332105" y="286639"/>
                    <a:pt x="257810" y="369316"/>
                    <a:pt x="166116" y="369316"/>
                  </a:cubicBezTo>
                  <a:cubicBezTo>
                    <a:pt x="74422" y="369316"/>
                    <a:pt x="0" y="286639"/>
                    <a:pt x="0" y="184658"/>
                  </a:cubicBezTo>
                  <a:close/>
                </a:path>
              </a:pathLst>
            </a:custGeom>
            <a:solidFill>
              <a:srgbClr val="92D050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389696" y="1359509"/>
            <a:ext cx="6762674" cy="887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B0F0"/>
                </a:solidFill>
                <a:latin typeface="Arimo Bold"/>
                <a:ea typeface="Arimo Bold"/>
                <a:cs typeface="Arimo Bold"/>
                <a:sym typeface="Arimo Bold"/>
              </a:rPr>
              <a:t>Problem Statement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Method to detect different levels of image details improvements with 5 to 10 levels for RAW image buffer from DNG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540681" y="7610271"/>
            <a:ext cx="2653981" cy="1053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Kick Off</a:t>
            </a:r>
          </a:p>
          <a:p>
            <a:pPr algn="l">
              <a:lnSpc>
                <a:spcPts val="1980"/>
              </a:lnSpc>
            </a:pP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Literature Review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56017" y="7579435"/>
            <a:ext cx="2700595" cy="1279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Milestone 1</a:t>
            </a:r>
          </a:p>
          <a:p>
            <a:pPr algn="l">
              <a:lnSpc>
                <a:spcPts val="1889"/>
              </a:lnSpc>
            </a:pP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DNG processing pipeline and dataset creation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136679" y="7650063"/>
            <a:ext cx="2115669" cy="1395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Closure</a:t>
            </a:r>
          </a:p>
          <a:p>
            <a:pPr algn="l">
              <a:lnSpc>
                <a:spcPts val="1889"/>
              </a:lnSpc>
            </a:pP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Dashboard development and API deployment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621033" y="892939"/>
            <a:ext cx="10575527" cy="180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2100" b="true">
                <a:solidFill>
                  <a:srgbClr val="70AD47"/>
                </a:solidFill>
                <a:latin typeface="Arimo Bold"/>
                <a:ea typeface="Arimo Bold"/>
                <a:cs typeface="Arimo Bold"/>
                <a:sym typeface="Arimo Bold"/>
              </a:rPr>
              <a:t>Expectations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Trained multi-level classification model 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DNG processing pipeline 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Metric visualization dashboard 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REST API 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Technical documentation 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Benchmark dataset,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139493" y="7553114"/>
            <a:ext cx="2700595" cy="1249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Milestone 2</a:t>
            </a:r>
          </a:p>
          <a:p>
            <a:pPr algn="l">
              <a:lnSpc>
                <a:spcPts val="1889"/>
              </a:lnSpc>
            </a:pP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Model training and validation (V1)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76707" y="2645935"/>
            <a:ext cx="6762674" cy="2411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B0F0"/>
                </a:solidFill>
                <a:latin typeface="Arimo Bold"/>
                <a:ea typeface="Arimo Bold"/>
                <a:cs typeface="Arimo Bold"/>
                <a:sym typeface="Arimo Bold"/>
              </a:rPr>
              <a:t>Description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This study proposes a method to detect and classify improvements in image detail levels for RAW buffers extracted from DNG files, utilizing a scale of 5 to 10 levels. By analyzing structural, textural, and tonal enhancements, the approach provides a standardized metric for evaluating and optimizing RAW image processing workflows, ensuring precise and consistent visual outcomes.</a:t>
            </a:r>
          </a:p>
          <a:p>
            <a:pPr algn="l">
              <a:lnSpc>
                <a:spcPts val="1980"/>
              </a:lnSpc>
            </a:pPr>
          </a:p>
          <a:p>
            <a:pPr algn="l">
              <a:lnSpc>
                <a:spcPts val="1980"/>
              </a:lnSpc>
            </a:pPr>
          </a:p>
          <a:p>
            <a:pPr algn="l">
              <a:lnSpc>
                <a:spcPts val="1980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7621034" y="3109550"/>
            <a:ext cx="10483130" cy="1903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2100" b="true">
                <a:solidFill>
                  <a:srgbClr val="70AD47"/>
                </a:solidFill>
                <a:latin typeface="Arimo Bold"/>
                <a:ea typeface="Arimo Bold"/>
                <a:cs typeface="Arimo Bold"/>
                <a:sym typeface="Arimo Bold"/>
              </a:rPr>
              <a:t>KPI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Classification Accuracy ≥ 92%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Processing Time ≤ 1.5s per image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Inter-rater Reliability ≥ 0.85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PSNR/SSIM Correlation ≥ 0.9</a:t>
            </a:r>
          </a:p>
          <a:p>
            <a:pPr algn="l" marL="298609" indent="-149304" lvl="1">
              <a:lnSpc>
                <a:spcPts val="1980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7621032" y="4859256"/>
            <a:ext cx="10483130" cy="2207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2100" b="true">
                <a:solidFill>
                  <a:srgbClr val="70AD47"/>
                </a:solidFill>
                <a:latin typeface="Arimo Bold"/>
                <a:ea typeface="Arimo Bold"/>
                <a:cs typeface="Arimo Bold"/>
                <a:sym typeface="Arimo Bold"/>
              </a:rPr>
              <a:t>Pre-Requisite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Python 3.10+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PyTorch/TensorFlow proficiency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DNG file format specification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RAW image processing concepts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Image quality assessment metrics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Data augmentation techniques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04864" y="7698273"/>
            <a:ext cx="1883168" cy="379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2100">
                <a:solidFill>
                  <a:srgbClr val="00B0F0"/>
                </a:solidFill>
                <a:latin typeface="Arimo Bold"/>
                <a:ea typeface="Arimo Bold"/>
                <a:cs typeface="Arimo Bold"/>
                <a:sym typeface="Arimo Bold"/>
              </a:rPr>
              <a:t>Work let Details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756676" y="8806612"/>
            <a:ext cx="1382705" cy="343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Mentor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56780" y="8806616"/>
            <a:ext cx="1883360" cy="343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Duration (Months)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92586" y="8146425"/>
            <a:ext cx="368232" cy="71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42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6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047872" y="8806614"/>
            <a:ext cx="1637715" cy="343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Members Count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625943" y="8146425"/>
            <a:ext cx="368232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42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3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913536" y="4346677"/>
            <a:ext cx="4490936" cy="2817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70AD47"/>
                </a:solidFill>
                <a:latin typeface="Arimo Bold"/>
                <a:ea typeface="Arimo Bold"/>
                <a:cs typeface="Arimo Bold"/>
                <a:sym typeface="Arimo Bold"/>
              </a:rPr>
              <a:t>Tech Stack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Python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PyTorch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OpenCV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LibRAW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FastAPI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React.js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Docker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AWS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157568"/>
            <a:ext cx="253998" cy="723796"/>
            <a:chOff x="0" y="0"/>
            <a:chExt cx="338664" cy="9650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8709" cy="965073"/>
            </a:xfrm>
            <a:custGeom>
              <a:avLst/>
              <a:gdLst/>
              <a:ahLst/>
              <a:cxnLst/>
              <a:rect r="r" b="b" t="t" l="l"/>
              <a:pathLst>
                <a:path h="965073" w="338709">
                  <a:moveTo>
                    <a:pt x="0" y="0"/>
                  </a:moveTo>
                  <a:lnTo>
                    <a:pt x="338709" y="0"/>
                  </a:lnTo>
                  <a:lnTo>
                    <a:pt x="338709" y="965073"/>
                  </a:lnTo>
                  <a:lnTo>
                    <a:pt x="0" y="965073"/>
                  </a:lnTo>
                  <a:close/>
                </a:path>
              </a:pathLst>
            </a:custGeom>
            <a:solidFill>
              <a:srgbClr val="0E409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2847" y="80883"/>
            <a:ext cx="14103273" cy="877162"/>
            <a:chOff x="0" y="0"/>
            <a:chExt cx="18804364" cy="11695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804364" cy="1169550"/>
            </a:xfrm>
            <a:custGeom>
              <a:avLst/>
              <a:gdLst/>
              <a:ahLst/>
              <a:cxnLst/>
              <a:rect r="r" b="b" t="t" l="l"/>
              <a:pathLst>
                <a:path h="1169550" w="18804364">
                  <a:moveTo>
                    <a:pt x="0" y="0"/>
                  </a:moveTo>
                  <a:lnTo>
                    <a:pt x="18804364" y="0"/>
                  </a:lnTo>
                  <a:lnTo>
                    <a:pt x="18804364" y="1169550"/>
                  </a:lnTo>
                  <a:lnTo>
                    <a:pt x="0" y="1169550"/>
                  </a:lnTo>
                  <a:close/>
                </a:path>
              </a:pathLst>
            </a:custGeom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8804364" cy="1188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Literature survey and study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56949" y="157568"/>
            <a:ext cx="112950" cy="723796"/>
            <a:chOff x="0" y="0"/>
            <a:chExt cx="150600" cy="9650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0622" cy="965073"/>
            </a:xfrm>
            <a:custGeom>
              <a:avLst/>
              <a:gdLst/>
              <a:ahLst/>
              <a:cxnLst/>
              <a:rect r="r" b="b" t="t" l="l"/>
              <a:pathLst>
                <a:path h="965073" w="150622">
                  <a:moveTo>
                    <a:pt x="0" y="0"/>
                  </a:moveTo>
                  <a:lnTo>
                    <a:pt x="150622" y="0"/>
                  </a:lnTo>
                  <a:lnTo>
                    <a:pt x="150622" y="965073"/>
                  </a:lnTo>
                  <a:lnTo>
                    <a:pt x="0" y="965073"/>
                  </a:lnTo>
                  <a:close/>
                </a:path>
              </a:pathLst>
            </a:custGeom>
            <a:solidFill>
              <a:srgbClr val="BFBFB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6413121" y="157568"/>
            <a:ext cx="1874877" cy="712365"/>
            <a:chOff x="0" y="0"/>
            <a:chExt cx="2499836" cy="9498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99868" cy="949833"/>
            </a:xfrm>
            <a:custGeom>
              <a:avLst/>
              <a:gdLst/>
              <a:ahLst/>
              <a:cxnLst/>
              <a:rect r="r" b="b" t="t" l="l"/>
              <a:pathLst>
                <a:path h="949833" w="2499868">
                  <a:moveTo>
                    <a:pt x="0" y="0"/>
                  </a:moveTo>
                  <a:lnTo>
                    <a:pt x="2499868" y="0"/>
                  </a:lnTo>
                  <a:lnTo>
                    <a:pt x="2499868" y="949833"/>
                  </a:lnTo>
                  <a:lnTo>
                    <a:pt x="0" y="9498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960" t="-38358" r="-4571" b="-50906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0" y="1326606"/>
            <a:ext cx="18287998" cy="1154162"/>
            <a:chOff x="0" y="0"/>
            <a:chExt cx="24383998" cy="153888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384000" cy="1538859"/>
            </a:xfrm>
            <a:custGeom>
              <a:avLst/>
              <a:gdLst/>
              <a:ahLst/>
              <a:cxnLst/>
              <a:rect r="r" b="b" t="t" l="l"/>
              <a:pathLst>
                <a:path h="153885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538859"/>
                  </a:lnTo>
                  <a:lnTo>
                    <a:pt x="0" y="1538859"/>
                  </a:ln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4383998" cy="1576982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just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b="true" sz="2400" u="sng">
                  <a:solidFill>
                    <a:srgbClr val="0E409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Major Observations / Conclusions: </a:t>
              </a:r>
            </a:p>
            <a:p>
              <a:pPr algn="just" marL="325755" indent="-162878" lvl="1">
                <a:lnSpc>
                  <a:spcPts val="2160"/>
                </a:lnSpc>
              </a:pPr>
              <a:r>
                <a:rPr lang="en-US" sz="1800">
                  <a:solidFill>
                    <a:srgbClr val="0E409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(provide details about your findings, experimental opinion – Use separate slide if necessary)</a:t>
              </a:r>
            </a:p>
            <a:p>
              <a:pPr algn="just" marL="325755" indent="-162878" lvl="1">
                <a:lnSpc>
                  <a:spcPts val="216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56949" y="2637930"/>
            <a:ext cx="8915644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7361" indent="-253681" lvl="1">
              <a:lnSpc>
                <a:spcPts val="2819"/>
              </a:lnSpc>
              <a:buFont typeface="Arial"/>
              <a:buChar char="•"/>
            </a:pPr>
            <a:r>
              <a:rPr lang="en-US" b="true" sz="234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Limited Research on Detection of Enhancement Levels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72847" y="2947492"/>
            <a:ext cx="18666403" cy="1844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5"/>
              </a:lnSpc>
            </a:pPr>
          </a:p>
          <a:p>
            <a:pPr algn="l">
              <a:lnSpc>
                <a:spcPts val="1633"/>
              </a:lnSpc>
            </a:pPr>
            <a:r>
              <a:rPr lang="en-US" sz="214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14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It was observed that most existing research has concentrated on improving image quality through denoising, tone adjustment, or color correction.</a:t>
            </a:r>
          </a:p>
          <a:p>
            <a:pPr algn="l">
              <a:lnSpc>
                <a:spcPts val="1633"/>
              </a:lnSpc>
            </a:pPr>
          </a:p>
          <a:p>
            <a:pPr algn="l">
              <a:lnSpc>
                <a:spcPts val="1633"/>
              </a:lnSpc>
            </a:pPr>
            <a:r>
              <a:rPr lang="en-US" sz="214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Very limited studies have explored detecting or classifying the extent of enhancement in RAW DNG images.</a:t>
            </a:r>
          </a:p>
          <a:p>
            <a:pPr algn="l">
              <a:lnSpc>
                <a:spcPts val="1633"/>
              </a:lnSpc>
            </a:pPr>
          </a:p>
          <a:p>
            <a:pPr algn="l">
              <a:lnSpc>
                <a:spcPts val="1633"/>
              </a:lnSpc>
            </a:pPr>
            <a:r>
              <a:rPr lang="en-US" sz="214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This project has been proposed to address that gap by building a classification model capable of identifying multiple enhancement levels.</a:t>
            </a:r>
          </a:p>
          <a:p>
            <a:pPr algn="l">
              <a:lnSpc>
                <a:spcPts val="1633"/>
              </a:lnSpc>
            </a:pPr>
          </a:p>
          <a:p>
            <a:pPr algn="l">
              <a:lnSpc>
                <a:spcPts val="1633"/>
              </a:lnSpc>
            </a:pPr>
            <a:r>
              <a:rPr lang="en-US" sz="214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Such an approach can help automate the evaluation process and ensure consistency across image datasets.</a:t>
            </a:r>
          </a:p>
          <a:p>
            <a:pPr algn="l">
              <a:lnSpc>
                <a:spcPts val="1740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413424" y="4934661"/>
            <a:ext cx="8915644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7361" indent="-253681" lvl="1">
              <a:lnSpc>
                <a:spcPts val="2819"/>
              </a:lnSpc>
              <a:buFont typeface="Arial"/>
              <a:buChar char="•"/>
            </a:pPr>
            <a:r>
              <a:rPr lang="en-US" b="true" sz="234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RAW I</a:t>
            </a:r>
            <a:r>
              <a:rPr lang="en-US" b="true" sz="234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mages Preserve More Detail and Dynamic Range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69899" y="7407605"/>
            <a:ext cx="8915644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07361" indent="-253681" lvl="1">
              <a:lnSpc>
                <a:spcPts val="2819"/>
              </a:lnSpc>
              <a:buFont typeface="Arial"/>
              <a:buChar char="•"/>
            </a:pPr>
            <a:r>
              <a:rPr lang="en-US" b="true" sz="234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</a:t>
            </a:r>
            <a:r>
              <a:rPr lang="en-US" b="true" sz="234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eep Learning as the Emerging Standard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72847" y="7574293"/>
            <a:ext cx="17188932" cy="2300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8"/>
              </a:lnSpc>
            </a:pPr>
          </a:p>
          <a:p>
            <a:pPr algn="l">
              <a:lnSpc>
                <a:spcPts val="2708"/>
              </a:lnSpc>
            </a:pPr>
            <a:r>
              <a:rPr lang="en-US" sz="214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From the reviewed literature, it has been established that deep learning techniques such as CNNs and Vision Transformers (ViTs) have outperformed traditional methods.</a:t>
            </a:r>
          </a:p>
          <a:p>
            <a:pPr algn="l">
              <a:lnSpc>
                <a:spcPts val="2708"/>
              </a:lnSpc>
            </a:pPr>
            <a:r>
              <a:rPr lang="en-US" sz="214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These models automatically learn spatial, structural, and textural features essential for identifying enhancement differences.</a:t>
            </a:r>
          </a:p>
          <a:p>
            <a:pPr algn="l">
              <a:lnSpc>
                <a:spcPts val="2708"/>
              </a:lnSpc>
            </a:pPr>
            <a:r>
              <a:rPr lang="en-US" sz="214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They have demonstrated superior adaptability across various imaging conditions and sensor types.</a:t>
            </a:r>
          </a:p>
          <a:p>
            <a:pPr algn="l">
              <a:lnSpc>
                <a:spcPts val="2708"/>
              </a:lnSpc>
            </a:pPr>
            <a:r>
              <a:rPr lang="en-US" sz="214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Such flexibility makes deep learning architectures highly suitable for building multi-level classification models for RAW images.</a:t>
            </a:r>
          </a:p>
          <a:p>
            <a:pPr algn="l">
              <a:lnSpc>
                <a:spcPts val="1827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572847" y="4975587"/>
            <a:ext cx="18666403" cy="2538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</a:p>
          <a:p>
            <a:pPr algn="l">
              <a:lnSpc>
                <a:spcPts val="3009"/>
              </a:lnSpc>
            </a:pPr>
            <a:r>
              <a:rPr lang="en-US" sz="214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14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It was found that RAW or DNG images store unprocessed sensor data, preserving richer tonal and structural details compared to JPEGs.</a:t>
            </a:r>
          </a:p>
          <a:p>
            <a:pPr algn="l">
              <a:lnSpc>
                <a:spcPts val="3009"/>
              </a:lnSpc>
            </a:pPr>
            <a:r>
              <a:rPr lang="en-US" sz="214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They retain higher dynamic range, bit depth, and color information, which are often lost in compressed formats.</a:t>
            </a:r>
          </a:p>
          <a:p>
            <a:pPr algn="l">
              <a:lnSpc>
                <a:spcPts val="3009"/>
              </a:lnSpc>
            </a:pPr>
            <a:r>
              <a:rPr lang="en-US" sz="214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Because of these characteristics, RAW buffers are highly suitable for assessing enhancement quality in a more precise and data-rich manner.</a:t>
            </a:r>
          </a:p>
          <a:p>
            <a:pPr algn="l">
              <a:lnSpc>
                <a:spcPts val="3009"/>
              </a:lnSpc>
            </a:pPr>
            <a:r>
              <a:rPr lang="en-US" sz="214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Their ability to capture subtle changes makes them ideal for training deep models for detail-level detection.</a:t>
            </a:r>
          </a:p>
          <a:p>
            <a:pPr algn="l">
              <a:lnSpc>
                <a:spcPts val="2407"/>
              </a:lnSpc>
            </a:pPr>
          </a:p>
          <a:p>
            <a:pPr algn="l">
              <a:lnSpc>
                <a:spcPts val="174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157568"/>
            <a:ext cx="253998" cy="723796"/>
            <a:chOff x="0" y="0"/>
            <a:chExt cx="338664" cy="9650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8709" cy="965073"/>
            </a:xfrm>
            <a:custGeom>
              <a:avLst/>
              <a:gdLst/>
              <a:ahLst/>
              <a:cxnLst/>
              <a:rect r="r" b="b" t="t" l="l"/>
              <a:pathLst>
                <a:path h="965073" w="338709">
                  <a:moveTo>
                    <a:pt x="0" y="0"/>
                  </a:moveTo>
                  <a:lnTo>
                    <a:pt x="338709" y="0"/>
                  </a:lnTo>
                  <a:lnTo>
                    <a:pt x="338709" y="965073"/>
                  </a:lnTo>
                  <a:lnTo>
                    <a:pt x="0" y="965073"/>
                  </a:lnTo>
                  <a:close/>
                </a:path>
              </a:pathLst>
            </a:custGeom>
            <a:solidFill>
              <a:srgbClr val="0E409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2847" y="80883"/>
            <a:ext cx="14103273" cy="877162"/>
            <a:chOff x="0" y="0"/>
            <a:chExt cx="18804364" cy="11695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804364" cy="1169550"/>
            </a:xfrm>
            <a:custGeom>
              <a:avLst/>
              <a:gdLst/>
              <a:ahLst/>
              <a:cxnLst/>
              <a:rect r="r" b="b" t="t" l="l"/>
              <a:pathLst>
                <a:path h="1169550" w="18804364">
                  <a:moveTo>
                    <a:pt x="0" y="0"/>
                  </a:moveTo>
                  <a:lnTo>
                    <a:pt x="18804364" y="0"/>
                  </a:lnTo>
                  <a:lnTo>
                    <a:pt x="18804364" y="1169550"/>
                  </a:lnTo>
                  <a:lnTo>
                    <a:pt x="0" y="1169550"/>
                  </a:lnTo>
                  <a:close/>
                </a:path>
              </a:pathLst>
            </a:custGeom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8804364" cy="1188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Literature survey and study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56949" y="157568"/>
            <a:ext cx="112950" cy="723796"/>
            <a:chOff x="0" y="0"/>
            <a:chExt cx="150600" cy="9650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0622" cy="965073"/>
            </a:xfrm>
            <a:custGeom>
              <a:avLst/>
              <a:gdLst/>
              <a:ahLst/>
              <a:cxnLst/>
              <a:rect r="r" b="b" t="t" l="l"/>
              <a:pathLst>
                <a:path h="965073" w="150622">
                  <a:moveTo>
                    <a:pt x="0" y="0"/>
                  </a:moveTo>
                  <a:lnTo>
                    <a:pt x="150622" y="0"/>
                  </a:lnTo>
                  <a:lnTo>
                    <a:pt x="150622" y="965073"/>
                  </a:lnTo>
                  <a:lnTo>
                    <a:pt x="0" y="965073"/>
                  </a:lnTo>
                  <a:close/>
                </a:path>
              </a:pathLst>
            </a:custGeom>
            <a:solidFill>
              <a:srgbClr val="BFBFB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6413121" y="157568"/>
            <a:ext cx="1874877" cy="712365"/>
            <a:chOff x="0" y="0"/>
            <a:chExt cx="2499836" cy="9498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99868" cy="949833"/>
            </a:xfrm>
            <a:custGeom>
              <a:avLst/>
              <a:gdLst/>
              <a:ahLst/>
              <a:cxnLst/>
              <a:rect r="r" b="b" t="t" l="l"/>
              <a:pathLst>
                <a:path h="949833" w="2499868">
                  <a:moveTo>
                    <a:pt x="0" y="0"/>
                  </a:moveTo>
                  <a:lnTo>
                    <a:pt x="2499868" y="0"/>
                  </a:lnTo>
                  <a:lnTo>
                    <a:pt x="2499868" y="949833"/>
                  </a:lnTo>
                  <a:lnTo>
                    <a:pt x="0" y="9498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960" t="-38358" r="-4571" b="-50906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56949" y="1241417"/>
            <a:ext cx="8915644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7361" indent="-253681" lvl="1">
              <a:lnSpc>
                <a:spcPts val="2819"/>
              </a:lnSpc>
              <a:buFont typeface="Arial"/>
              <a:buChar char="•"/>
            </a:pPr>
            <a:r>
              <a:rPr lang="en-US" b="true" sz="234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Lack of Labeled Datasets for Enhancement Levels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72847" y="1731954"/>
            <a:ext cx="17431804" cy="2288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0"/>
              </a:lnSpc>
            </a:pPr>
            <a:r>
              <a:rPr lang="en-US" sz="21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It has been identified that most existing image datasets, including MIT-Adobe FiveK, RAISE, and SIDD, lack specific labels indicating enhancement intensity.</a:t>
            </a:r>
          </a:p>
          <a:p>
            <a:pPr algn="l">
              <a:lnSpc>
                <a:spcPts val="3010"/>
              </a:lnSpc>
            </a:pPr>
            <a:r>
              <a:rPr lang="en-US" sz="21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Without such labeling, supervised training for enhancement detection becomes highly challenging.</a:t>
            </a:r>
          </a:p>
          <a:p>
            <a:pPr algn="l">
              <a:lnSpc>
                <a:spcPts val="3010"/>
              </a:lnSpc>
            </a:pPr>
            <a:r>
              <a:rPr lang="en-US" sz="21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The project therefore emphasizes the creation or curation of a labeled dataset that categorizes images by enhancement level.</a:t>
            </a:r>
          </a:p>
          <a:p>
            <a:pPr algn="l">
              <a:lnSpc>
                <a:spcPts val="3010"/>
              </a:lnSpc>
            </a:pPr>
            <a:r>
              <a:rPr lang="en-US" sz="21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This will serve as a benchmark resource for future research in RAW image classification and evaluation.</a:t>
            </a:r>
          </a:p>
          <a:p>
            <a:pPr algn="l">
              <a:lnSpc>
                <a:spcPts val="3010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373105" y="4001444"/>
            <a:ext cx="8915644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7361" indent="-253681" lvl="1">
              <a:lnSpc>
                <a:spcPts val="2819"/>
              </a:lnSpc>
              <a:buFont typeface="Arial"/>
              <a:buChar char="•"/>
            </a:pPr>
            <a:r>
              <a:rPr lang="en-US" b="true" sz="234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Need</a:t>
            </a:r>
            <a:r>
              <a:rPr lang="en-US" b="true" sz="234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for Reliable and Perceptual Quality Metrics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72847" y="4487219"/>
            <a:ext cx="17431804" cy="1526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0"/>
              </a:lnSpc>
            </a:pPr>
            <a:r>
              <a:rPr lang="en-US" sz="21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E</a:t>
            </a:r>
            <a:r>
              <a:rPr lang="en-US" sz="21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xisting quality metrics such as PSNR and SSIM are primarily based on pixel-level similarity and often fail to reflect perceived visual quality.</a:t>
            </a:r>
          </a:p>
          <a:p>
            <a:pPr algn="l">
              <a:lnSpc>
                <a:spcPts val="3010"/>
              </a:lnSpc>
            </a:pPr>
            <a:r>
              <a:rPr lang="en-US" sz="21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They do not capture human perception of sharpness, texture, or tonal improvement effectively.</a:t>
            </a:r>
          </a:p>
          <a:p>
            <a:pPr algn="l">
              <a:lnSpc>
                <a:spcPts val="3010"/>
              </a:lnSpc>
            </a:pPr>
            <a:r>
              <a:rPr lang="en-US" sz="21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To overcome this limitation, a learning-based classifier has been proposed to provide perceptually aligned evaluation.</a:t>
            </a:r>
          </a:p>
          <a:p>
            <a:pPr algn="l">
              <a:lnSpc>
                <a:spcPts val="3010"/>
              </a:lnSpc>
            </a:pPr>
            <a:r>
              <a:rPr lang="en-US" sz="21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This ensures more reliable, consistent, and human-like assessment of enhancement levels across different images.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69899" y="6299509"/>
            <a:ext cx="8915644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7361" indent="-253681" lvl="1">
              <a:lnSpc>
                <a:spcPts val="2819"/>
              </a:lnSpc>
              <a:buFont typeface="Arial"/>
              <a:buChar char="•"/>
            </a:pPr>
            <a:r>
              <a:rPr lang="en-US" b="true" sz="234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Key T</a:t>
            </a:r>
            <a:r>
              <a:rPr lang="en-US" b="true" sz="234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akeaway and Research Significance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72847" y="6785284"/>
            <a:ext cx="18200898" cy="1526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0"/>
              </a:lnSpc>
            </a:pPr>
            <a:r>
              <a:rPr lang="en-US" sz="21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A </a:t>
            </a:r>
            <a:r>
              <a:rPr lang="en-US" sz="21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significant research gap has been identified in the detection and classification of multiple enhancement levels in RAW images.</a:t>
            </a:r>
          </a:p>
          <a:p>
            <a:pPr algn="l">
              <a:lnSpc>
                <a:spcPts val="3010"/>
              </a:lnSpc>
            </a:pPr>
            <a:r>
              <a:rPr lang="en-US" sz="21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This project aims to bridge that gap by developing a deep learning-based model capable of categorizing enhancement levels from DNG buffers.</a:t>
            </a:r>
          </a:p>
          <a:p>
            <a:pPr algn="l">
              <a:lnSpc>
                <a:spcPts val="3010"/>
              </a:lnSpc>
            </a:pPr>
            <a:r>
              <a:rPr lang="en-US" sz="21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The expected outcomes include standardized evaluation practices, improved processing accuracy, and reduced subjectivity in quality assessment.</a:t>
            </a:r>
          </a:p>
          <a:p>
            <a:pPr algn="l">
              <a:lnSpc>
                <a:spcPts val="3010"/>
              </a:lnSpc>
            </a:pPr>
            <a:r>
              <a:rPr lang="en-US" sz="21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Ultimately, the work is expected to contribute to better automation and consistency in RAW image analysis workflows.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157568"/>
            <a:ext cx="253998" cy="723796"/>
            <a:chOff x="0" y="0"/>
            <a:chExt cx="338664" cy="9650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8709" cy="965073"/>
            </a:xfrm>
            <a:custGeom>
              <a:avLst/>
              <a:gdLst/>
              <a:ahLst/>
              <a:cxnLst/>
              <a:rect r="r" b="b" t="t" l="l"/>
              <a:pathLst>
                <a:path h="965073" w="338709">
                  <a:moveTo>
                    <a:pt x="0" y="0"/>
                  </a:moveTo>
                  <a:lnTo>
                    <a:pt x="338709" y="0"/>
                  </a:lnTo>
                  <a:lnTo>
                    <a:pt x="338709" y="965073"/>
                  </a:lnTo>
                  <a:lnTo>
                    <a:pt x="0" y="965073"/>
                  </a:lnTo>
                  <a:close/>
                </a:path>
              </a:pathLst>
            </a:custGeom>
            <a:solidFill>
              <a:srgbClr val="0E409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2847" y="80883"/>
            <a:ext cx="14103273" cy="877162"/>
            <a:chOff x="0" y="0"/>
            <a:chExt cx="18804364" cy="11695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804364" cy="1169550"/>
            </a:xfrm>
            <a:custGeom>
              <a:avLst/>
              <a:gdLst/>
              <a:ahLst/>
              <a:cxnLst/>
              <a:rect r="r" b="b" t="t" l="l"/>
              <a:pathLst>
                <a:path h="1169550" w="18804364">
                  <a:moveTo>
                    <a:pt x="0" y="0"/>
                  </a:moveTo>
                  <a:lnTo>
                    <a:pt x="18804364" y="0"/>
                  </a:lnTo>
                  <a:lnTo>
                    <a:pt x="18804364" y="1169550"/>
                  </a:lnTo>
                  <a:lnTo>
                    <a:pt x="0" y="1169550"/>
                  </a:lnTo>
                  <a:close/>
                </a:path>
              </a:pathLst>
            </a:custGeom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8804364" cy="1188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Identified Resource Requirements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56949" y="157568"/>
            <a:ext cx="112950" cy="723796"/>
            <a:chOff x="0" y="0"/>
            <a:chExt cx="150600" cy="9650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0622" cy="965073"/>
            </a:xfrm>
            <a:custGeom>
              <a:avLst/>
              <a:gdLst/>
              <a:ahLst/>
              <a:cxnLst/>
              <a:rect r="r" b="b" t="t" l="l"/>
              <a:pathLst>
                <a:path h="965073" w="150622">
                  <a:moveTo>
                    <a:pt x="0" y="0"/>
                  </a:moveTo>
                  <a:lnTo>
                    <a:pt x="150622" y="0"/>
                  </a:lnTo>
                  <a:lnTo>
                    <a:pt x="150622" y="965073"/>
                  </a:lnTo>
                  <a:lnTo>
                    <a:pt x="0" y="965073"/>
                  </a:lnTo>
                  <a:close/>
                </a:path>
              </a:pathLst>
            </a:custGeom>
            <a:solidFill>
              <a:srgbClr val="BFBFB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6413121" y="157568"/>
            <a:ext cx="1874877" cy="712365"/>
            <a:chOff x="0" y="0"/>
            <a:chExt cx="2499836" cy="9498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99868" cy="949833"/>
            </a:xfrm>
            <a:custGeom>
              <a:avLst/>
              <a:gdLst/>
              <a:ahLst/>
              <a:cxnLst/>
              <a:rect r="r" b="b" t="t" l="l"/>
              <a:pathLst>
                <a:path h="949833" w="2499868">
                  <a:moveTo>
                    <a:pt x="0" y="0"/>
                  </a:moveTo>
                  <a:lnTo>
                    <a:pt x="2499868" y="0"/>
                  </a:lnTo>
                  <a:lnTo>
                    <a:pt x="2499868" y="949833"/>
                  </a:lnTo>
                  <a:lnTo>
                    <a:pt x="0" y="9498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960" t="-38358" r="-4571" b="-50906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27001" y="1344644"/>
            <a:ext cx="8915644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7361" indent="-253681" lvl="1">
              <a:lnSpc>
                <a:spcPts val="2819"/>
              </a:lnSpc>
              <a:buFont typeface="Arial"/>
              <a:buChar char="•"/>
            </a:pPr>
            <a:r>
              <a:rPr lang="en-US" b="true" sz="234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Hardware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13166" y="1820894"/>
            <a:ext cx="17431804" cy="1526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0"/>
              </a:lnSpc>
            </a:pPr>
            <a:r>
              <a:rPr lang="en-US" sz="21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NV</a:t>
            </a:r>
            <a:r>
              <a:rPr lang="en-US" sz="21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IDIA RTX 3060/4060 GPU (6–8 GB VRAM), Intel i7/Ryzen 7 CPU, 16–32 GB RAM, and 200 GB SSD storage are required for efficient processing and model training.</a:t>
            </a:r>
          </a:p>
          <a:p>
            <a:pPr algn="l">
              <a:lnSpc>
                <a:spcPts val="3010"/>
              </a:lnSpc>
            </a:pPr>
            <a:r>
              <a:rPr lang="en-US" sz="21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College lab systems or shared GPU servers can handle preprocessing and small-scale experiments, while heavy training may require cloud GPUs.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7001" y="3504597"/>
            <a:ext cx="8915644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7361" indent="-253681" lvl="1">
              <a:lnSpc>
                <a:spcPts val="2819"/>
              </a:lnSpc>
              <a:buFont typeface="Arial"/>
              <a:buChar char="•"/>
            </a:pPr>
            <a:r>
              <a:rPr lang="en-US" b="true" sz="234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Software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13166" y="3995134"/>
            <a:ext cx="17431804" cy="764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0"/>
              </a:lnSpc>
            </a:pPr>
            <a:r>
              <a:rPr lang="en-US" sz="21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Python</a:t>
            </a:r>
            <a:r>
              <a:rPr lang="en-US" sz="21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3.10+, PyTorch, OpenCV, LibRAW, FastAPI, Docker, and VS Code will be used for development and deployment.</a:t>
            </a:r>
          </a:p>
          <a:p>
            <a:pPr algn="l">
              <a:lnSpc>
                <a:spcPts val="3010"/>
              </a:lnSpc>
            </a:pPr>
            <a:r>
              <a:rPr lang="en-US" sz="21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All required tools are open-source and can be installed at the college level without licensing issues.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7001" y="4956350"/>
            <a:ext cx="8915644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7361" indent="-253681" lvl="1">
              <a:lnSpc>
                <a:spcPts val="2819"/>
              </a:lnSpc>
              <a:buFont typeface="Arial"/>
              <a:buChar char="•"/>
            </a:pPr>
            <a:r>
              <a:rPr lang="en-US" b="true" sz="234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Cloud Resources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72847" y="5451650"/>
            <a:ext cx="17431804" cy="764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0"/>
              </a:lnSpc>
            </a:pPr>
            <a:r>
              <a:rPr lang="en-US" sz="21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AWS EC2</a:t>
            </a:r>
            <a:r>
              <a:rPr lang="en-US" sz="21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(T4/V100) or Google Colab Pro will be used for large-scale model training and API deployment.</a:t>
            </a:r>
          </a:p>
          <a:p>
            <a:pPr algn="l">
              <a:lnSpc>
                <a:spcPts val="3010"/>
              </a:lnSpc>
            </a:pPr>
            <a:r>
              <a:rPr lang="en-US" sz="21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Cloud GPUs provide scalability for training deep models and benchmarking performance across datasets.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28356" y="6450965"/>
            <a:ext cx="8915644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7361" indent="-253681" lvl="1">
              <a:lnSpc>
                <a:spcPts val="2819"/>
              </a:lnSpc>
              <a:buFont typeface="Arial"/>
              <a:buChar char="•"/>
            </a:pPr>
            <a:r>
              <a:rPr lang="en-US" b="true" sz="234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Dataset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56691" y="6927215"/>
            <a:ext cx="17431804" cy="764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0"/>
              </a:lnSpc>
            </a:pPr>
            <a:r>
              <a:rPr lang="en-US" sz="21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RAW</a:t>
            </a:r>
            <a:r>
              <a:rPr lang="en-US" sz="21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/DNG datasets can be collected from MIT-Adobe FiveK, RAISE, and SIDD, along with custom labeled enhancement-level data.</a:t>
            </a:r>
          </a:p>
          <a:p>
            <a:pPr algn="l">
              <a:lnSpc>
                <a:spcPts val="3010"/>
              </a:lnSpc>
            </a:pPr>
            <a:r>
              <a:rPr lang="en-US" sz="21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Data preprocessing, augmentation, and labeling can be performed using regular college systems.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53999" y="7926070"/>
            <a:ext cx="8915644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7361" indent="-253681" lvl="1">
              <a:lnSpc>
                <a:spcPts val="2819"/>
              </a:lnSpc>
              <a:buFont typeface="Arial"/>
              <a:buChar char="•"/>
            </a:pPr>
            <a:r>
              <a:rPr lang="en-US" b="true" sz="234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Collaboration Resources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56691" y="8493760"/>
            <a:ext cx="17431804" cy="1145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0"/>
              </a:lnSpc>
            </a:pPr>
            <a:r>
              <a:rPr lang="en-US" sz="21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 3-member team will work collaboratively under mentor guidance for data preparation, model development, and validation.</a:t>
            </a:r>
          </a:p>
          <a:p>
            <a:pPr algn="l">
              <a:lnSpc>
                <a:spcPts val="3010"/>
              </a:lnSpc>
            </a:pPr>
            <a:r>
              <a:rPr lang="en-US" sz="21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Regular progress reviews and feedback sessions will be conducted to ensure alignment with project goals.</a:t>
            </a:r>
          </a:p>
          <a:p>
            <a:pPr algn="l">
              <a:lnSpc>
                <a:spcPts val="3010"/>
              </a:lnSpc>
            </a:pPr>
            <a:r>
              <a:rPr lang="en-US" sz="21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All collaboration and documentation activities can be managed using college facilities and online tools such as GitHub and Google Drive.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157568"/>
            <a:ext cx="253998" cy="723796"/>
            <a:chOff x="0" y="0"/>
            <a:chExt cx="338664" cy="9650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8709" cy="965073"/>
            </a:xfrm>
            <a:custGeom>
              <a:avLst/>
              <a:gdLst/>
              <a:ahLst/>
              <a:cxnLst/>
              <a:rect r="r" b="b" t="t" l="l"/>
              <a:pathLst>
                <a:path h="965073" w="338709">
                  <a:moveTo>
                    <a:pt x="0" y="0"/>
                  </a:moveTo>
                  <a:lnTo>
                    <a:pt x="338709" y="0"/>
                  </a:lnTo>
                  <a:lnTo>
                    <a:pt x="338709" y="965073"/>
                  </a:lnTo>
                  <a:lnTo>
                    <a:pt x="0" y="965073"/>
                  </a:lnTo>
                  <a:close/>
                </a:path>
              </a:pathLst>
            </a:custGeom>
            <a:solidFill>
              <a:srgbClr val="0E409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2847" y="80883"/>
            <a:ext cx="14103273" cy="877162"/>
            <a:chOff x="0" y="0"/>
            <a:chExt cx="18804364" cy="11695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804364" cy="1169550"/>
            </a:xfrm>
            <a:custGeom>
              <a:avLst/>
              <a:gdLst/>
              <a:ahLst/>
              <a:cxnLst/>
              <a:rect r="r" b="b" t="t" l="l"/>
              <a:pathLst>
                <a:path h="1169550" w="18804364">
                  <a:moveTo>
                    <a:pt x="0" y="0"/>
                  </a:moveTo>
                  <a:lnTo>
                    <a:pt x="18804364" y="0"/>
                  </a:lnTo>
                  <a:lnTo>
                    <a:pt x="18804364" y="1169550"/>
                  </a:lnTo>
                  <a:lnTo>
                    <a:pt x="0" y="1169550"/>
                  </a:lnTo>
                  <a:close/>
                </a:path>
              </a:pathLst>
            </a:custGeom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8804364" cy="1188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Academic Calendar Breaks (If Any)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56949" y="157568"/>
            <a:ext cx="112950" cy="723796"/>
            <a:chOff x="0" y="0"/>
            <a:chExt cx="150600" cy="9650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0622" cy="965073"/>
            </a:xfrm>
            <a:custGeom>
              <a:avLst/>
              <a:gdLst/>
              <a:ahLst/>
              <a:cxnLst/>
              <a:rect r="r" b="b" t="t" l="l"/>
              <a:pathLst>
                <a:path h="965073" w="150622">
                  <a:moveTo>
                    <a:pt x="0" y="0"/>
                  </a:moveTo>
                  <a:lnTo>
                    <a:pt x="150622" y="0"/>
                  </a:lnTo>
                  <a:lnTo>
                    <a:pt x="150622" y="965073"/>
                  </a:lnTo>
                  <a:lnTo>
                    <a:pt x="0" y="965073"/>
                  </a:lnTo>
                  <a:close/>
                </a:path>
              </a:pathLst>
            </a:custGeom>
            <a:solidFill>
              <a:srgbClr val="BFBFB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6413121" y="157568"/>
            <a:ext cx="1874877" cy="712365"/>
            <a:chOff x="0" y="0"/>
            <a:chExt cx="2499836" cy="9498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99868" cy="949833"/>
            </a:xfrm>
            <a:custGeom>
              <a:avLst/>
              <a:gdLst/>
              <a:ahLst/>
              <a:cxnLst/>
              <a:rect r="r" b="b" t="t" l="l"/>
              <a:pathLst>
                <a:path h="949833" w="2499868">
                  <a:moveTo>
                    <a:pt x="0" y="0"/>
                  </a:moveTo>
                  <a:lnTo>
                    <a:pt x="2499868" y="0"/>
                  </a:lnTo>
                  <a:lnTo>
                    <a:pt x="2499868" y="949833"/>
                  </a:lnTo>
                  <a:lnTo>
                    <a:pt x="0" y="9498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960" t="-38358" r="-4571" b="-50906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0" y="1326606"/>
            <a:ext cx="18287998" cy="1615827"/>
            <a:chOff x="0" y="0"/>
            <a:chExt cx="24383998" cy="215443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384000" cy="2154428"/>
            </a:xfrm>
            <a:custGeom>
              <a:avLst/>
              <a:gdLst/>
              <a:ahLst/>
              <a:cxnLst/>
              <a:rect r="r" b="b" t="t" l="l"/>
              <a:pathLst>
                <a:path h="215442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154428"/>
                  </a:lnTo>
                  <a:lnTo>
                    <a:pt x="0" y="2154428"/>
                  </a:ln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4383998" cy="2192536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just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b="true" sz="2400" u="sng">
                  <a:solidFill>
                    <a:srgbClr val="0E409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Mention any planned academic activity (Internals/Exams/Holidays/Events/Other Internships etc) in next 6 months which will impact project timeline.</a:t>
              </a:r>
            </a:p>
            <a:p>
              <a:pPr algn="just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b="true" sz="2400" u="sng">
                  <a:solidFill>
                    <a:srgbClr val="0E409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This helps in setting up the expectation of delivery timeline.</a:t>
              </a:r>
            </a:p>
            <a:p>
              <a:pPr algn="just" marL="434340" indent="-217170" lvl="1">
                <a:lnSpc>
                  <a:spcPts val="28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27000" y="3013328"/>
            <a:ext cx="8915644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7361" indent="-253681" lvl="1">
              <a:lnSpc>
                <a:spcPts val="2819"/>
              </a:lnSpc>
              <a:buFont typeface="Arial"/>
              <a:buChar char="•"/>
            </a:pPr>
            <a:r>
              <a:rPr lang="en-US" b="true" sz="234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Saturnalia (College Fest)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13424" y="3417599"/>
            <a:ext cx="17431804" cy="764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0"/>
              </a:lnSpc>
            </a:pPr>
            <a:r>
              <a:rPr lang="en-US" sz="21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Scheduled</a:t>
            </a:r>
            <a:r>
              <a:rPr lang="en-US" sz="21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from 13th to 16th November, during which regular project work may be temporarily paused due to event participation and responsibilities.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7000" y="4344064"/>
            <a:ext cx="8915644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7361" indent="-253681" lvl="1">
              <a:lnSpc>
                <a:spcPts val="2819"/>
              </a:lnSpc>
              <a:buFont typeface="Arial"/>
              <a:buChar char="•"/>
            </a:pPr>
            <a:r>
              <a:rPr lang="en-US" b="true" sz="234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Internal Exams and Tests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69899" y="4839364"/>
            <a:ext cx="17431804" cy="38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0"/>
              </a:lnSpc>
            </a:pPr>
            <a:r>
              <a:rPr lang="en-US" sz="21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</a:t>
            </a:r>
            <a:r>
              <a:rPr lang="en-US" sz="21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rom 2nd  to 20th December, internal assessments and lab tests are planned, which may slightly reduce available working hours on the project.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7000" y="5575328"/>
            <a:ext cx="8915644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7361" indent="-253681" lvl="1">
              <a:lnSpc>
                <a:spcPts val="2819"/>
              </a:lnSpc>
              <a:buFont typeface="Arial"/>
              <a:buChar char="•"/>
            </a:pPr>
            <a:r>
              <a:rPr lang="en-US" b="true" sz="234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Winter Break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69899" y="6165879"/>
            <a:ext cx="17431804" cy="38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0"/>
              </a:lnSpc>
            </a:pPr>
            <a:r>
              <a:rPr lang="en-US" sz="21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 semeste</a:t>
            </a:r>
            <a:r>
              <a:rPr lang="en-US" sz="21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 break is scheduled from 21st December to 5th January, during which limited project coordination may occur.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97732" y="6806593"/>
            <a:ext cx="8915644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7361" indent="-253681" lvl="1">
              <a:lnSpc>
                <a:spcPts val="2819"/>
              </a:lnSpc>
              <a:buFont typeface="Arial"/>
              <a:buChar char="•"/>
            </a:pPr>
            <a:r>
              <a:rPr lang="en-US" b="true" sz="234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Mid-Semester Exams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69899" y="7301893"/>
            <a:ext cx="17431804" cy="38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0"/>
              </a:lnSpc>
            </a:pPr>
            <a:r>
              <a:rPr lang="en-US" sz="21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Planned</a:t>
            </a:r>
            <a:r>
              <a:rPr lang="en-US" sz="21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for the first week of March (around 8–9 days duration), during which project activities will be paused to focus on academic performance.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90659" y="8037858"/>
            <a:ext cx="8915644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7361" indent="-253681" lvl="1">
              <a:lnSpc>
                <a:spcPts val="2819"/>
              </a:lnSpc>
              <a:buFont typeface="Arial"/>
              <a:buChar char="•"/>
            </a:pPr>
            <a:r>
              <a:rPr lang="en-US" b="true" sz="234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Post Mid-Sem Break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62826" y="8533158"/>
            <a:ext cx="17431804" cy="38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0"/>
              </a:lnSpc>
            </a:pPr>
            <a:r>
              <a:rPr lang="en-US" sz="21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 short one-week</a:t>
            </a:r>
            <a:r>
              <a:rPr lang="en-US" sz="21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break after mid-semester exams is expected, allowing students to resume project work with renewed focus thereafter.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157568"/>
            <a:ext cx="253998" cy="723796"/>
            <a:chOff x="0" y="0"/>
            <a:chExt cx="338664" cy="9650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8709" cy="965073"/>
            </a:xfrm>
            <a:custGeom>
              <a:avLst/>
              <a:gdLst/>
              <a:ahLst/>
              <a:cxnLst/>
              <a:rect r="r" b="b" t="t" l="l"/>
              <a:pathLst>
                <a:path h="965073" w="338709">
                  <a:moveTo>
                    <a:pt x="0" y="0"/>
                  </a:moveTo>
                  <a:lnTo>
                    <a:pt x="338709" y="0"/>
                  </a:lnTo>
                  <a:lnTo>
                    <a:pt x="338709" y="965073"/>
                  </a:lnTo>
                  <a:lnTo>
                    <a:pt x="0" y="965073"/>
                  </a:lnTo>
                  <a:close/>
                </a:path>
              </a:pathLst>
            </a:custGeom>
            <a:solidFill>
              <a:srgbClr val="0E409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2847" y="80883"/>
            <a:ext cx="14103273" cy="877162"/>
            <a:chOff x="0" y="0"/>
            <a:chExt cx="18804364" cy="11695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804364" cy="1169550"/>
            </a:xfrm>
            <a:custGeom>
              <a:avLst/>
              <a:gdLst/>
              <a:ahLst/>
              <a:cxnLst/>
              <a:rect r="r" b="b" t="t" l="l"/>
              <a:pathLst>
                <a:path h="1169550" w="18804364">
                  <a:moveTo>
                    <a:pt x="0" y="0"/>
                  </a:moveTo>
                  <a:lnTo>
                    <a:pt x="18804364" y="0"/>
                  </a:lnTo>
                  <a:lnTo>
                    <a:pt x="18804364" y="1169550"/>
                  </a:lnTo>
                  <a:lnTo>
                    <a:pt x="0" y="1169550"/>
                  </a:lnTo>
                  <a:close/>
                </a:path>
              </a:pathLst>
            </a:custGeom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8804364" cy="1188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Queries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56949" y="157568"/>
            <a:ext cx="112950" cy="723796"/>
            <a:chOff x="0" y="0"/>
            <a:chExt cx="150600" cy="9650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0622" cy="965073"/>
            </a:xfrm>
            <a:custGeom>
              <a:avLst/>
              <a:gdLst/>
              <a:ahLst/>
              <a:cxnLst/>
              <a:rect r="r" b="b" t="t" l="l"/>
              <a:pathLst>
                <a:path h="965073" w="150622">
                  <a:moveTo>
                    <a:pt x="0" y="0"/>
                  </a:moveTo>
                  <a:lnTo>
                    <a:pt x="150622" y="0"/>
                  </a:lnTo>
                  <a:lnTo>
                    <a:pt x="150622" y="965073"/>
                  </a:lnTo>
                  <a:lnTo>
                    <a:pt x="0" y="965073"/>
                  </a:lnTo>
                  <a:close/>
                </a:path>
              </a:pathLst>
            </a:custGeom>
            <a:solidFill>
              <a:srgbClr val="BFBFB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6413121" y="157568"/>
            <a:ext cx="1874877" cy="712365"/>
            <a:chOff x="0" y="0"/>
            <a:chExt cx="2499836" cy="9498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99868" cy="949833"/>
            </a:xfrm>
            <a:custGeom>
              <a:avLst/>
              <a:gdLst/>
              <a:ahLst/>
              <a:cxnLst/>
              <a:rect r="r" b="b" t="t" l="l"/>
              <a:pathLst>
                <a:path h="949833" w="2499868">
                  <a:moveTo>
                    <a:pt x="0" y="0"/>
                  </a:moveTo>
                  <a:lnTo>
                    <a:pt x="2499868" y="0"/>
                  </a:lnTo>
                  <a:lnTo>
                    <a:pt x="2499868" y="949833"/>
                  </a:lnTo>
                  <a:lnTo>
                    <a:pt x="0" y="9498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960" t="-38358" r="-4571" b="-50906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" y="1209771"/>
            <a:ext cx="18287998" cy="784830"/>
            <a:chOff x="0" y="0"/>
            <a:chExt cx="24383998" cy="10464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384000" cy="1046480"/>
            </a:xfrm>
            <a:custGeom>
              <a:avLst/>
              <a:gdLst/>
              <a:ahLst/>
              <a:cxnLst/>
              <a:rect r="r" b="b" t="t" l="l"/>
              <a:pathLst>
                <a:path h="104648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46480"/>
                  </a:lnTo>
                  <a:lnTo>
                    <a:pt x="0" y="1046480"/>
                  </a:ln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4383998" cy="108454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just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b="true" sz="2400" u="sng">
                  <a:solidFill>
                    <a:srgbClr val="0E409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Challenges </a:t>
              </a:r>
              <a:r>
                <a:rPr lang="en-US" sz="2400">
                  <a:solidFill>
                    <a:srgbClr val="0E409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: </a:t>
              </a:r>
            </a:p>
            <a:p>
              <a:pPr algn="just" marL="325755" indent="-162878" lvl="1">
                <a:lnSpc>
                  <a:spcPts val="2160"/>
                </a:lnSpc>
              </a:pPr>
              <a:r>
                <a:rPr lang="en-US" sz="1800">
                  <a:solidFill>
                    <a:srgbClr val="0E409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(Discuss in the form of bullets, what are the next action steps, any road blocks / bottlenecks)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13682" y="2371349"/>
            <a:ext cx="8915644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7361" indent="-253681" lvl="1">
              <a:lnSpc>
                <a:spcPts val="2819"/>
              </a:lnSpc>
              <a:buFont typeface="Arial"/>
              <a:buChar char="•"/>
            </a:pPr>
            <a:r>
              <a:rPr lang="en-US" b="true" sz="234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Understanding the Exact Next Steps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69954" y="2828549"/>
            <a:ext cx="17431804" cy="764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0"/>
              </a:lnSpc>
            </a:pPr>
            <a:r>
              <a:rPr lang="en-US" sz="21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We need</a:t>
            </a:r>
            <a:r>
              <a:rPr lang="en-US" sz="21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clarity on how to proceed with the initial implementation — whether to first focus on dataset preparation or begin with a small model prototype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3530" y="3715861"/>
            <a:ext cx="8915644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7361" indent="-253681" lvl="1">
              <a:lnSpc>
                <a:spcPts val="2819"/>
              </a:lnSpc>
              <a:buFont typeface="Arial"/>
              <a:buChar char="•"/>
            </a:pPr>
            <a:r>
              <a:rPr lang="en-US" b="true" sz="234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Dataset Availability and Labeling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69954" y="4120132"/>
            <a:ext cx="17431804" cy="38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0"/>
              </a:lnSpc>
            </a:pPr>
            <a:r>
              <a:rPr lang="en-US" sz="21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Guidance is required</a:t>
            </a:r>
            <a:r>
              <a:rPr lang="en-US" sz="21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on how to collect and label DNG datasets for multiple enhancement levels (5–10).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13682" y="4903721"/>
            <a:ext cx="8915644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7361" indent="-253681" lvl="1">
              <a:lnSpc>
                <a:spcPts val="2819"/>
              </a:lnSpc>
              <a:buFont typeface="Arial"/>
              <a:buChar char="•"/>
            </a:pPr>
            <a:r>
              <a:rPr lang="en-US" b="true" sz="234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Model Architecture Selection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72847" y="5218046"/>
            <a:ext cx="17431804" cy="764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0"/>
              </a:lnSpc>
            </a:pPr>
            <a:r>
              <a:rPr lang="en-US" sz="21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We are unsure</a:t>
            </a:r>
            <a:r>
              <a:rPr lang="en-US" sz="21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whether to start with a CNN-based classifier (e.g., ResNet/EfficientNet) or explore Vision Transformers for better feature learning from RAW buffers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70212" y="6296911"/>
            <a:ext cx="8915644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7361" indent="-253681" lvl="1">
              <a:lnSpc>
                <a:spcPts val="2819"/>
              </a:lnSpc>
              <a:buFont typeface="Arial"/>
              <a:buChar char="•"/>
            </a:pPr>
            <a:r>
              <a:rPr lang="en-US" b="true" sz="234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Evaluation and Benchmarking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72847" y="6696961"/>
            <a:ext cx="17431804" cy="38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0"/>
              </a:lnSpc>
            </a:pPr>
            <a:r>
              <a:rPr lang="en-US" sz="21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Need clarification on</a:t>
            </a:r>
            <a:r>
              <a:rPr lang="en-US" sz="21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which metrics  should be prioritized to evaluate the model’s performance.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294822" y="790161"/>
            <a:ext cx="13735878" cy="8475284"/>
            <a:chOff x="0" y="0"/>
            <a:chExt cx="18314504" cy="113003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314504" cy="11300378"/>
            </a:xfrm>
            <a:custGeom>
              <a:avLst/>
              <a:gdLst/>
              <a:ahLst/>
              <a:cxnLst/>
              <a:rect r="r" b="b" t="t" l="l"/>
              <a:pathLst>
                <a:path h="11300378" w="18314504">
                  <a:moveTo>
                    <a:pt x="0" y="0"/>
                  </a:moveTo>
                  <a:lnTo>
                    <a:pt x="18314504" y="0"/>
                  </a:lnTo>
                  <a:lnTo>
                    <a:pt x="18314504" y="11300378"/>
                  </a:lnTo>
                  <a:lnTo>
                    <a:pt x="0" y="11300378"/>
                  </a:lnTo>
                  <a:close/>
                </a:path>
              </a:pathLst>
            </a:custGeom>
          </p:spPr>
        </p:sp>
        <p:sp>
          <p:nvSpPr>
            <p:cNvPr name="TextBox 4" id="4"/>
            <p:cNvSpPr txBox="true"/>
            <p:nvPr/>
          </p:nvSpPr>
          <p:spPr>
            <a:xfrm>
              <a:off x="0" y="238125"/>
              <a:ext cx="18314504" cy="110622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356"/>
                </a:lnSpc>
              </a:pPr>
              <a:r>
                <a:rPr lang="en-US" sz="20700">
                  <a:solidFill>
                    <a:srgbClr val="5B9BD5"/>
                  </a:solidFill>
                  <a:latin typeface="ITC Edwardian Script"/>
                  <a:ea typeface="ITC Edwardian Script"/>
                  <a:cs typeface="ITC Edwardian Script"/>
                  <a:sym typeface="ITC Edwardian Script"/>
                </a:rPr>
                <a:t>Thank you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47110" y="-36915"/>
            <a:ext cx="1476821" cy="10323915"/>
            <a:chOff x="0" y="0"/>
            <a:chExt cx="1969094" cy="137652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69135" cy="13765276"/>
            </a:xfrm>
            <a:custGeom>
              <a:avLst/>
              <a:gdLst/>
              <a:ahLst/>
              <a:cxnLst/>
              <a:rect r="r" b="b" t="t" l="l"/>
              <a:pathLst>
                <a:path h="13765276" w="1969135">
                  <a:moveTo>
                    <a:pt x="0" y="0"/>
                  </a:moveTo>
                  <a:lnTo>
                    <a:pt x="1969135" y="0"/>
                  </a:lnTo>
                  <a:lnTo>
                    <a:pt x="1969135" y="13765276"/>
                  </a:lnTo>
                  <a:lnTo>
                    <a:pt x="0" y="13765276"/>
                  </a:lnTo>
                  <a:close/>
                </a:path>
              </a:pathLst>
            </a:custGeom>
            <a:solidFill>
              <a:srgbClr val="BFBFB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0" y="0"/>
            <a:ext cx="924338" cy="10286998"/>
            <a:chOff x="0" y="0"/>
            <a:chExt cx="1232450" cy="137159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3240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232408">
                  <a:moveTo>
                    <a:pt x="0" y="0"/>
                  </a:moveTo>
                  <a:lnTo>
                    <a:pt x="1232408" y="0"/>
                  </a:lnTo>
                  <a:lnTo>
                    <a:pt x="1232408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E4094"/>
            </a:solid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DAG4M8Z4VFQ</dc:identifier>
  <dcterms:modified xsi:type="dcterms:W3CDTF">2011-08-01T06:04:30Z</dcterms:modified>
  <cp:revision>1</cp:revision>
  <dc:title>Limited Research on Detection of Enhancement Levels From my study, I found that most existing research mainly focuses on enhancing RAW images (for example, removing noise, improving color or contrast). However, there are very few works that actually</dc:title>
</cp:coreProperties>
</file>