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mo" panose="020B0604020202020204" charset="0"/>
      <p:regular r:id="rId7"/>
    </p:embeddedFont>
    <p:embeddedFont>
      <p:font typeface="Arimo Bold" panose="020B0604020202020204" charset="0"/>
      <p:regular r:id="rId8"/>
    </p:embeddedFont>
    <p:embeddedFont>
      <p:font typeface="Calibri (MS)" panose="020B0604020202020204" charset="0"/>
      <p:regular r:id="rId9"/>
    </p:embeddedFont>
    <p:embeddedFont>
      <p:font typeface="Calibri (MS)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888" y="1091575"/>
            <a:ext cx="17760763" cy="1386211"/>
            <a:chOff x="0" y="0"/>
            <a:chExt cx="23681017" cy="18482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055" cy="1848231"/>
            </a:xfrm>
            <a:custGeom>
              <a:avLst/>
              <a:gdLst/>
              <a:ahLst/>
              <a:cxnLst/>
              <a:rect l="l" t="t" r="r" b="b"/>
              <a:pathLst>
                <a:path w="23681055" h="1848231">
                  <a:moveTo>
                    <a:pt x="0" y="0"/>
                  </a:moveTo>
                  <a:lnTo>
                    <a:pt x="23681055" y="0"/>
                  </a:lnTo>
                  <a:lnTo>
                    <a:pt x="23681055" y="1848231"/>
                  </a:lnTo>
                  <a:lnTo>
                    <a:pt x="0" y="1848231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" y="157572"/>
            <a:ext cx="253994" cy="723795"/>
            <a:chOff x="0" y="0"/>
            <a:chExt cx="338658" cy="9650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8709" cy="965073"/>
            </a:xfrm>
            <a:custGeom>
              <a:avLst/>
              <a:gdLst/>
              <a:ahLst/>
              <a:cxnLst/>
              <a:rect l="l" t="t" r="r" b="b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708108" y="212274"/>
            <a:ext cx="15035012" cy="1061828"/>
            <a:chOff x="0" y="0"/>
            <a:chExt cx="20046683" cy="1415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046686" cy="1415772"/>
            </a:xfrm>
            <a:custGeom>
              <a:avLst/>
              <a:gdLst/>
              <a:ahLst/>
              <a:cxnLst/>
              <a:rect l="l" t="t" r="r" b="b"/>
              <a:pathLst>
                <a:path w="20046686" h="1415772">
                  <a:moveTo>
                    <a:pt x="0" y="0"/>
                  </a:moveTo>
                  <a:lnTo>
                    <a:pt x="20046686" y="0"/>
                  </a:lnTo>
                  <a:lnTo>
                    <a:pt x="20046686" y="1415772"/>
                  </a:lnTo>
                  <a:lnTo>
                    <a:pt x="0" y="1415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0046683" cy="14729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Work-let Name: </a:t>
              </a: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Multi-Level Detail Enhancement Detection for RAW DNG Buffers</a:t>
              </a:r>
            </a:p>
            <a:p>
              <a:pPr algn="l">
                <a:lnSpc>
                  <a:spcPts val="3240"/>
                </a:lnSpc>
              </a:pPr>
              <a:endParaRPr lang="en-US" sz="27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6949" y="157572"/>
            <a:ext cx="112947" cy="723795"/>
            <a:chOff x="0" y="0"/>
            <a:chExt cx="150597" cy="965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622" cy="965073"/>
            </a:xfrm>
            <a:custGeom>
              <a:avLst/>
              <a:gdLst/>
              <a:ahLst/>
              <a:cxnLst/>
              <a:rect l="l" t="t" r="r" b="b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351177" y="1100147"/>
            <a:ext cx="267845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Worklet Details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3995" y="1509722"/>
            <a:ext cx="6599825" cy="62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AutoNum type="arabicPeriod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Worklet ID: 25VI40TU</a:t>
            </a:r>
          </a:p>
          <a:p>
            <a:pPr marL="325755" lvl="1" indent="-162878" algn="l">
              <a:lnSpc>
                <a:spcPts val="2160"/>
              </a:lnSpc>
              <a:buAutoNum type="arabicPeriod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College Name: Thapar Institute of Engineering and Technology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413118" y="157572"/>
            <a:ext cx="1874872" cy="712365"/>
          </a:xfrm>
          <a:custGeom>
            <a:avLst/>
            <a:gdLst/>
            <a:ahLst/>
            <a:cxnLst/>
            <a:rect l="l" t="t" r="r" b="b"/>
            <a:pathLst>
              <a:path w="1874872" h="712365">
                <a:moveTo>
                  <a:pt x="0" y="0"/>
                </a:moveTo>
                <a:lnTo>
                  <a:pt x="1874872" y="0"/>
                </a:lnTo>
                <a:lnTo>
                  <a:pt x="1874872" y="712365"/>
                </a:lnTo>
                <a:lnTo>
                  <a:pt x="0" y="712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60" t="-38358" r="-4573" b="-50908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50888" y="6292739"/>
            <a:ext cx="8801672" cy="2720159"/>
            <a:chOff x="0" y="0"/>
            <a:chExt cx="11735562" cy="36268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35562" cy="3626866"/>
            </a:xfrm>
            <a:custGeom>
              <a:avLst/>
              <a:gdLst/>
              <a:ahLst/>
              <a:cxnLst/>
              <a:rect l="l" t="t" r="r" b="b"/>
              <a:pathLst>
                <a:path w="11735562" h="3626866">
                  <a:moveTo>
                    <a:pt x="0" y="0"/>
                  </a:moveTo>
                  <a:lnTo>
                    <a:pt x="11735562" y="0"/>
                  </a:lnTo>
                  <a:lnTo>
                    <a:pt x="11735562" y="3626866"/>
                  </a:lnTo>
                  <a:lnTo>
                    <a:pt x="0" y="3626866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50888" y="3069679"/>
            <a:ext cx="8801672" cy="2979887"/>
            <a:chOff x="0" y="0"/>
            <a:chExt cx="11735562" cy="397318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35562" cy="3973195"/>
            </a:xfrm>
            <a:custGeom>
              <a:avLst/>
              <a:gdLst/>
              <a:ahLst/>
              <a:cxnLst/>
              <a:rect l="l" t="t" r="r" b="b"/>
              <a:pathLst>
                <a:path w="11735562" h="3973195">
                  <a:moveTo>
                    <a:pt x="0" y="0"/>
                  </a:moveTo>
                  <a:lnTo>
                    <a:pt x="11735562" y="0"/>
                  </a:lnTo>
                  <a:lnTo>
                    <a:pt x="11735562" y="3973195"/>
                  </a:lnTo>
                  <a:lnTo>
                    <a:pt x="0" y="3973195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735562" cy="4011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60"/>
                </a:lnSpc>
              </a:pPr>
              <a:endParaRPr dirty="0"/>
            </a:p>
            <a:p>
              <a:pPr algn="l">
                <a:lnSpc>
                  <a:spcPts val="2160"/>
                </a:lnSpc>
              </a:pPr>
              <a:endParaRPr dirty="0"/>
            </a:p>
            <a:p>
              <a:pPr marL="596583" lvl="2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596583" lvl="2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Problem scope and evaluation criteria clarified for multi-level detail classification on RAW DNG buffers</a:t>
              </a:r>
              <a:r>
                <a:rPr lang="en-US" sz="1800" dirty="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  <a:p>
              <a:pPr marL="596583" lvl="2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Completed a comparative study of objective IQA metrics suitable for deriving enhancement levels.</a:t>
              </a:r>
            </a:p>
            <a:p>
              <a:pPr marL="466249" lvl="2" indent="-155416" algn="l">
                <a:lnSpc>
                  <a:spcPts val="216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2328" y="6419821"/>
            <a:ext cx="8618792" cy="1081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Next Steps 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0E4094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0E4094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90090" y="3191961"/>
            <a:ext cx="377711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KPIs achieved till now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148916" y="6303973"/>
            <a:ext cx="8801672" cy="2697680"/>
            <a:chOff x="0" y="0"/>
            <a:chExt cx="11735562" cy="35969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735562" cy="3596894"/>
            </a:xfrm>
            <a:custGeom>
              <a:avLst/>
              <a:gdLst/>
              <a:ahLst/>
              <a:cxnLst/>
              <a:rect l="l" t="t" r="r" b="b"/>
              <a:pathLst>
                <a:path w="11735562" h="3596894">
                  <a:moveTo>
                    <a:pt x="0" y="0"/>
                  </a:moveTo>
                  <a:lnTo>
                    <a:pt x="11735562" y="0"/>
                  </a:lnTo>
                  <a:lnTo>
                    <a:pt x="11735562" y="3596894"/>
                  </a:lnTo>
                  <a:lnTo>
                    <a:pt x="0" y="3596894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735562" cy="3635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</a:t>
              </a: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25755" lvl="1" indent="-162878" algn="just">
                <a:lnSpc>
                  <a:spcPct val="150000"/>
                </a:lnSpc>
                <a:buFont typeface="Arial"/>
                <a:buChar char="•"/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25755" lvl="1" indent="-162878" algn="just">
                <a:lnSpc>
                  <a:spcPct val="15000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 distinguished between applied enhancement and inherent detail-level estimation in RAW images.</a:t>
              </a:r>
            </a:p>
            <a:p>
              <a:pPr marL="325755" lvl="1" indent="-162878" algn="just">
                <a:lnSpc>
                  <a:spcPct val="15000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a strong theoretical foundation by analyzing IQA-based labeling strategies and their applicability.</a:t>
              </a:r>
            </a:p>
            <a:p>
              <a:pPr marL="325755" lvl="1" indent="-162878" algn="just">
                <a:lnSpc>
                  <a:spcPct val="15000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Prepared a technically consistent problem interpretation aligned with PRISM objectives.</a:t>
              </a:r>
            </a:p>
            <a:p>
              <a:pPr marL="325755" lvl="1" indent="-162878" algn="l">
                <a:lnSpc>
                  <a:spcPct val="15000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25755" lvl="1" indent="-162878" algn="l">
                <a:lnSpc>
                  <a:spcPts val="216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25755" lvl="1" indent="-162878" algn="ctr">
                <a:lnSpc>
                  <a:spcPts val="216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301429" y="6442243"/>
            <a:ext cx="644169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Key Achievements/ Outcome till now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44000" y="3069679"/>
            <a:ext cx="8801672" cy="2979887"/>
            <a:chOff x="0" y="0"/>
            <a:chExt cx="11735562" cy="397318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35562" cy="3973195"/>
            </a:xfrm>
            <a:custGeom>
              <a:avLst/>
              <a:gdLst/>
              <a:ahLst/>
              <a:cxnLst/>
              <a:rect l="l" t="t" r="r" b="b"/>
              <a:pathLst>
                <a:path w="11735562" h="3973195">
                  <a:moveTo>
                    <a:pt x="0" y="0"/>
                  </a:moveTo>
                  <a:lnTo>
                    <a:pt x="11735562" y="0"/>
                  </a:lnTo>
                  <a:lnTo>
                    <a:pt x="11735562" y="3973195"/>
                  </a:lnTo>
                  <a:lnTo>
                    <a:pt x="0" y="3973195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735562" cy="4011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60"/>
                </a:lnSpc>
              </a:pPr>
              <a:endParaRPr dirty="0"/>
            </a:p>
            <a:p>
              <a:pPr algn="l">
                <a:lnSpc>
                  <a:spcPts val="2160"/>
                </a:lnSpc>
              </a:pPr>
              <a:endParaRPr dirty="0"/>
            </a:p>
            <a:p>
              <a:pPr algn="l">
                <a:lnSpc>
                  <a:spcPts val="2160"/>
                </a:lnSpc>
              </a:pPr>
              <a:endParaRPr dirty="0"/>
            </a:p>
            <a:p>
              <a:pPr marL="325755" lvl="1" indent="-162878" algn="just">
                <a:lnSpc>
                  <a:spcPct val="150000"/>
                </a:lnSpc>
                <a:buFont typeface="Arial"/>
                <a:buChar char="•"/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25755" lvl="1" indent="-162878" algn="just">
                <a:lnSpc>
                  <a:spcPct val="15000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Absence of a predefined ground-truth labeling scheme for multi-level detail/enhancement classification.</a:t>
              </a:r>
            </a:p>
            <a:p>
              <a:pPr marL="325755" lvl="1" indent="-162878" algn="just">
                <a:lnSpc>
                  <a:spcPct val="150000"/>
                </a:lnSpc>
                <a:buFont typeface="Arial"/>
                <a:buChar char="•"/>
              </a:pPr>
              <a:r>
                <a:rPr lang="en-US" sz="18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Ambiguity in defining absolute enhancement levels versus relative detail-based levels.</a:t>
              </a:r>
            </a:p>
            <a:p>
              <a:pPr marL="325755" lvl="1" indent="-162878" algn="just">
                <a:lnSpc>
                  <a:spcPct val="15000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25755" lvl="1" indent="-162878" algn="l">
                <a:lnSpc>
                  <a:spcPts val="216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25755" lvl="1" indent="-162878" algn="l">
                <a:lnSpc>
                  <a:spcPts val="2160"/>
                </a:lnSpc>
              </a:pPr>
              <a:endParaRPr lang="en-US" sz="18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9301429" y="3201105"/>
            <a:ext cx="510037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Any Challenges/ Issues faced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5060168" y="9733788"/>
            <a:ext cx="3227832" cy="554003"/>
            <a:chOff x="0" y="0"/>
            <a:chExt cx="4303776" cy="73867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303774" cy="738664"/>
            </a:xfrm>
            <a:custGeom>
              <a:avLst/>
              <a:gdLst/>
              <a:ahLst/>
              <a:cxnLst/>
              <a:rect l="l" t="t" r="r" b="b"/>
              <a:pathLst>
                <a:path w="4303774" h="738664">
                  <a:moveTo>
                    <a:pt x="0" y="0"/>
                  </a:moveTo>
                  <a:lnTo>
                    <a:pt x="4303774" y="0"/>
                  </a:lnTo>
                  <a:lnTo>
                    <a:pt x="4303774" y="738664"/>
                  </a:lnTo>
                  <a:lnTo>
                    <a:pt x="0" y="738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4303776" cy="75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Date: 23/01/26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949293" cy="4704266"/>
          </a:xfrm>
          <a:custGeom>
            <a:avLst/>
            <a:gdLst/>
            <a:ahLst/>
            <a:cxnLst/>
            <a:rect l="l" t="t" r="r" b="b"/>
            <a:pathLst>
              <a:path w="5949293" h="4704266">
                <a:moveTo>
                  <a:pt x="0" y="0"/>
                </a:moveTo>
                <a:lnTo>
                  <a:pt x="5949293" y="0"/>
                </a:lnTo>
                <a:lnTo>
                  <a:pt x="5949293" y="4704266"/>
                </a:lnTo>
                <a:lnTo>
                  <a:pt x="0" y="470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368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49293" y="0"/>
            <a:ext cx="6082117" cy="4733925"/>
          </a:xfrm>
          <a:custGeom>
            <a:avLst/>
            <a:gdLst/>
            <a:ahLst/>
            <a:cxnLst/>
            <a:rect l="l" t="t" r="r" b="b"/>
            <a:pathLst>
              <a:path w="6082117" h="4733925">
                <a:moveTo>
                  <a:pt x="0" y="0"/>
                </a:moveTo>
                <a:lnTo>
                  <a:pt x="6082117" y="0"/>
                </a:lnTo>
                <a:lnTo>
                  <a:pt x="6082117" y="4733925"/>
                </a:lnTo>
                <a:lnTo>
                  <a:pt x="0" y="4733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70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31410" y="0"/>
            <a:ext cx="6386225" cy="4704266"/>
          </a:xfrm>
          <a:custGeom>
            <a:avLst/>
            <a:gdLst/>
            <a:ahLst/>
            <a:cxnLst/>
            <a:rect l="l" t="t" r="r" b="b"/>
            <a:pathLst>
              <a:path w="6386225" h="4704266">
                <a:moveTo>
                  <a:pt x="0" y="0"/>
                </a:moveTo>
                <a:lnTo>
                  <a:pt x="6386225" y="0"/>
                </a:lnTo>
                <a:lnTo>
                  <a:pt x="6386225" y="4704266"/>
                </a:lnTo>
                <a:lnTo>
                  <a:pt x="0" y="4704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077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5172075"/>
            <a:ext cx="6286789" cy="4180715"/>
          </a:xfrm>
          <a:custGeom>
            <a:avLst/>
            <a:gdLst/>
            <a:ahLst/>
            <a:cxnLst/>
            <a:rect l="l" t="t" r="r" b="b"/>
            <a:pathLst>
              <a:path w="6286789" h="4180715">
                <a:moveTo>
                  <a:pt x="0" y="0"/>
                </a:moveTo>
                <a:lnTo>
                  <a:pt x="6286789" y="0"/>
                </a:lnTo>
                <a:lnTo>
                  <a:pt x="6286789" y="4180715"/>
                </a:lnTo>
                <a:lnTo>
                  <a:pt x="0" y="4180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86789" y="5172075"/>
            <a:ext cx="6286789" cy="4180715"/>
          </a:xfrm>
          <a:custGeom>
            <a:avLst/>
            <a:gdLst/>
            <a:ahLst/>
            <a:cxnLst/>
            <a:rect l="l" t="t" r="r" b="b"/>
            <a:pathLst>
              <a:path w="6286789" h="4180715">
                <a:moveTo>
                  <a:pt x="0" y="0"/>
                </a:moveTo>
                <a:lnTo>
                  <a:pt x="6286789" y="0"/>
                </a:lnTo>
                <a:lnTo>
                  <a:pt x="6286789" y="4180715"/>
                </a:lnTo>
                <a:lnTo>
                  <a:pt x="0" y="41807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573578" y="5143500"/>
            <a:ext cx="6187669" cy="4114800"/>
          </a:xfrm>
          <a:custGeom>
            <a:avLst/>
            <a:gdLst/>
            <a:ahLst/>
            <a:cxnLst/>
            <a:rect l="l" t="t" r="r" b="b"/>
            <a:pathLst>
              <a:path w="6187669" h="4114800">
                <a:moveTo>
                  <a:pt x="0" y="0"/>
                </a:moveTo>
                <a:lnTo>
                  <a:pt x="6187670" y="0"/>
                </a:lnTo>
                <a:lnTo>
                  <a:pt x="61876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03672" y="4714875"/>
            <a:ext cx="263042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reference image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48607" y="4743450"/>
            <a:ext cx="19078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19748" y="4743450"/>
            <a:ext cx="20955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43395" y="9362315"/>
            <a:ext cx="19078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20802" y="9567102"/>
            <a:ext cx="20955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76627" y="9567102"/>
            <a:ext cx="19078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72160" y="795396"/>
            <a:ext cx="10906296" cy="4687935"/>
          </a:xfrm>
          <a:custGeom>
            <a:avLst/>
            <a:gdLst/>
            <a:ahLst/>
            <a:cxnLst/>
            <a:rect l="l" t="t" r="r" b="b"/>
            <a:pathLst>
              <a:path w="10906296" h="4687935">
                <a:moveTo>
                  <a:pt x="0" y="0"/>
                </a:moveTo>
                <a:lnTo>
                  <a:pt x="10906296" y="0"/>
                </a:lnTo>
                <a:lnTo>
                  <a:pt x="10906296" y="4687935"/>
                </a:lnTo>
                <a:lnTo>
                  <a:pt x="0" y="4687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042036" y="6312703"/>
            <a:ext cx="13251286" cy="256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085" lvl="1" indent="-302043" algn="l">
              <a:lnSpc>
                <a:spcPts val="3357"/>
              </a:lnSpc>
              <a:buFont typeface="Arial"/>
              <a:buChar char="•"/>
            </a:pPr>
            <a:r>
              <a:rPr lang="en-US" sz="279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MSE: Average pixel-wise error (lower = better).</a:t>
            </a:r>
          </a:p>
          <a:p>
            <a:pPr marL="604085" lvl="1" indent="-302043" algn="l">
              <a:lnSpc>
                <a:spcPts val="3357"/>
              </a:lnSpc>
              <a:buFont typeface="Arial"/>
              <a:buChar char="•"/>
            </a:pPr>
            <a:r>
              <a:rPr lang="en-US" sz="279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SSIM: Measures structural similarity (higher = better).</a:t>
            </a:r>
          </a:p>
          <a:p>
            <a:pPr marL="604085" lvl="1" indent="-302043" algn="l">
              <a:lnSpc>
                <a:spcPts val="3357"/>
              </a:lnSpc>
              <a:buFont typeface="Arial"/>
              <a:buChar char="•"/>
            </a:pPr>
            <a:r>
              <a:rPr lang="en-US" sz="279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MS-SSIM: Multi-scale SSIM for better perceptual accuracy (higher = better).</a:t>
            </a:r>
          </a:p>
          <a:p>
            <a:pPr marL="604085" lvl="1" indent="-302043" algn="l">
              <a:lnSpc>
                <a:spcPts val="3357"/>
              </a:lnSpc>
              <a:buFont typeface="Arial"/>
              <a:buChar char="•"/>
            </a:pPr>
            <a:r>
              <a:rPr lang="en-US" sz="279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VIF: Visual information preserved after enhancement (higher = better).</a:t>
            </a:r>
          </a:p>
          <a:p>
            <a:pPr marL="604085" lvl="1" indent="-302043" algn="l">
              <a:lnSpc>
                <a:spcPts val="3357"/>
              </a:lnSpc>
              <a:buFont typeface="Arial"/>
              <a:buChar char="•"/>
            </a:pPr>
            <a:r>
              <a:rPr lang="en-US" sz="279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FSIM: Feature similarity using edges/phase features (higher = better).</a:t>
            </a:r>
          </a:p>
          <a:p>
            <a:pPr marL="604085" lvl="1" indent="-302043" algn="l">
              <a:lnSpc>
                <a:spcPts val="3357"/>
              </a:lnSpc>
              <a:buFont typeface="Arial"/>
              <a:buChar char="•"/>
            </a:pPr>
            <a:r>
              <a:rPr lang="en-US" sz="279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FSIMc: FSIM + color information (higher = better).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888" y="1050617"/>
            <a:ext cx="17760763" cy="1386211"/>
            <a:chOff x="0" y="0"/>
            <a:chExt cx="23681017" cy="18482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055" cy="1848231"/>
            </a:xfrm>
            <a:custGeom>
              <a:avLst/>
              <a:gdLst/>
              <a:ahLst/>
              <a:cxnLst/>
              <a:rect l="l" t="t" r="r" b="b"/>
              <a:pathLst>
                <a:path w="23681055" h="1848231">
                  <a:moveTo>
                    <a:pt x="0" y="0"/>
                  </a:moveTo>
                  <a:lnTo>
                    <a:pt x="23681055" y="0"/>
                  </a:lnTo>
                  <a:lnTo>
                    <a:pt x="23681055" y="1848231"/>
                  </a:lnTo>
                  <a:lnTo>
                    <a:pt x="0" y="1848231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" y="157572"/>
            <a:ext cx="253994" cy="723795"/>
            <a:chOff x="0" y="0"/>
            <a:chExt cx="338658" cy="9650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8709" cy="965073"/>
            </a:xfrm>
            <a:custGeom>
              <a:avLst/>
              <a:gdLst/>
              <a:ahLst/>
              <a:cxnLst/>
              <a:rect l="l" t="t" r="r" b="b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72843" y="219380"/>
            <a:ext cx="15035012" cy="600161"/>
            <a:chOff x="0" y="0"/>
            <a:chExt cx="20046683" cy="800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046686" cy="800220"/>
            </a:xfrm>
            <a:custGeom>
              <a:avLst/>
              <a:gdLst/>
              <a:ahLst/>
              <a:cxnLst/>
              <a:rect l="l" t="t" r="r" b="b"/>
              <a:pathLst>
                <a:path w="20046686" h="800220">
                  <a:moveTo>
                    <a:pt x="0" y="0"/>
                  </a:moveTo>
                  <a:lnTo>
                    <a:pt x="20046686" y="0"/>
                  </a:lnTo>
                  <a:lnTo>
                    <a:pt x="20046686" y="800220"/>
                  </a:lnTo>
                  <a:lnTo>
                    <a:pt x="0" y="80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0046683" cy="866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Work-let Name: </a:t>
              </a:r>
              <a:r>
                <a:rPr lang="en-US" sz="30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Multi-Level Detail Enhancement Detection for RAW DNG Buffers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6949" y="157572"/>
            <a:ext cx="112947" cy="723795"/>
            <a:chOff x="0" y="0"/>
            <a:chExt cx="150597" cy="965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622" cy="965073"/>
            </a:xfrm>
            <a:custGeom>
              <a:avLst/>
              <a:gdLst/>
              <a:ahLst/>
              <a:cxnLst/>
              <a:rect l="l" t="t" r="r" b="b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351177" y="1100147"/>
            <a:ext cx="26109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Worklet Details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3995" y="1509722"/>
            <a:ext cx="6571831" cy="62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AutoNum type="arabicPeriod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Worklet ID: 25VI40TU</a:t>
            </a:r>
          </a:p>
          <a:p>
            <a:pPr marL="325755" lvl="1" indent="-162878" algn="l">
              <a:lnSpc>
                <a:spcPts val="2160"/>
              </a:lnSpc>
              <a:buAutoNum type="arabicPeriod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College Name: Thapar Institute of Engineering and Technology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413118" y="157572"/>
            <a:ext cx="1874872" cy="712365"/>
          </a:xfrm>
          <a:custGeom>
            <a:avLst/>
            <a:gdLst/>
            <a:ahLst/>
            <a:cxnLst/>
            <a:rect l="l" t="t" r="r" b="b"/>
            <a:pathLst>
              <a:path w="1874872" h="712365">
                <a:moveTo>
                  <a:pt x="0" y="0"/>
                </a:moveTo>
                <a:lnTo>
                  <a:pt x="1874872" y="0"/>
                </a:lnTo>
                <a:lnTo>
                  <a:pt x="1874872" y="712365"/>
                </a:lnTo>
                <a:lnTo>
                  <a:pt x="0" y="712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60" t="-38358" r="-4573" b="-50908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50888" y="6292739"/>
            <a:ext cx="8801672" cy="2720159"/>
            <a:chOff x="0" y="0"/>
            <a:chExt cx="11735562" cy="36268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735562" cy="3626866"/>
            </a:xfrm>
            <a:custGeom>
              <a:avLst/>
              <a:gdLst/>
              <a:ahLst/>
              <a:cxnLst/>
              <a:rect l="l" t="t" r="r" b="b"/>
              <a:pathLst>
                <a:path w="11735562" h="3626866">
                  <a:moveTo>
                    <a:pt x="0" y="0"/>
                  </a:moveTo>
                  <a:lnTo>
                    <a:pt x="11735562" y="0"/>
                  </a:lnTo>
                  <a:lnTo>
                    <a:pt x="11735562" y="3626866"/>
                  </a:lnTo>
                  <a:lnTo>
                    <a:pt x="0" y="3626866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50888" y="3055687"/>
            <a:ext cx="8801672" cy="2979887"/>
            <a:chOff x="0" y="0"/>
            <a:chExt cx="11735562" cy="397318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35562" cy="3973195"/>
            </a:xfrm>
            <a:custGeom>
              <a:avLst/>
              <a:gdLst/>
              <a:ahLst/>
              <a:cxnLst/>
              <a:rect l="l" t="t" r="r" b="b"/>
              <a:pathLst>
                <a:path w="11735562" h="3973195">
                  <a:moveTo>
                    <a:pt x="0" y="0"/>
                  </a:moveTo>
                  <a:lnTo>
                    <a:pt x="11735562" y="0"/>
                  </a:lnTo>
                  <a:lnTo>
                    <a:pt x="11735562" y="3973195"/>
                  </a:lnTo>
                  <a:lnTo>
                    <a:pt x="0" y="3973195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735562" cy="4011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0D0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access — Ready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0D0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 (Colab/Kaggle GPU) — Ready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0D0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Storage (Drive) — Ready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0D0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Required libraries/tools — Ready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0D0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Backup system (college lab GPU) — Optional / If needed</a:t>
              </a:r>
            </a:p>
            <a:p>
              <a:pPr algn="l">
                <a:lnSpc>
                  <a:spcPts val="2160"/>
                </a:lnSpc>
              </a:pPr>
              <a:endParaRPr lang="en-US" sz="1800">
                <a:solidFill>
                  <a:srgbClr val="0D0D0D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42328" y="6419821"/>
            <a:ext cx="8618792" cy="1543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Any Anticipated Break (Due to exams </a:t>
            </a:r>
            <a:r>
              <a:rPr lang="en-US" sz="2700" b="1" dirty="0" err="1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etc</a:t>
            </a:r>
            <a:r>
              <a:rPr lang="en-US" sz="2700" b="1" dirty="0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)</a:t>
            </a: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E4094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E4094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240"/>
              </a:lnSpc>
            </a:pPr>
            <a:endParaRPr lang="en-US" sz="2700" b="1" dirty="0">
              <a:solidFill>
                <a:srgbClr val="0E4094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42328" y="3201105"/>
            <a:ext cx="814602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Resource Requirement Identified with Status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09989" y="6307646"/>
            <a:ext cx="8801672" cy="2697680"/>
            <a:chOff x="0" y="0"/>
            <a:chExt cx="11735562" cy="35969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735562" cy="3596894"/>
            </a:xfrm>
            <a:custGeom>
              <a:avLst/>
              <a:gdLst/>
              <a:ahLst/>
              <a:cxnLst/>
              <a:rect l="l" t="t" r="r" b="b"/>
              <a:pathLst>
                <a:path w="11735562" h="3596894">
                  <a:moveTo>
                    <a:pt x="0" y="0"/>
                  </a:moveTo>
                  <a:lnTo>
                    <a:pt x="11735562" y="0"/>
                  </a:lnTo>
                  <a:lnTo>
                    <a:pt x="11735562" y="3596894"/>
                  </a:lnTo>
                  <a:lnTo>
                    <a:pt x="0" y="3596894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1735562" cy="3635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D0D0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https://www.kaggle.com/datasets/weipengzhang/adobe-fivek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301429" y="6442243"/>
            <a:ext cx="456697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dirty="0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Data Collection Information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271568" y="3055687"/>
            <a:ext cx="8801672" cy="2979887"/>
            <a:chOff x="0" y="0"/>
            <a:chExt cx="11735562" cy="397318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35562" cy="3973195"/>
            </a:xfrm>
            <a:custGeom>
              <a:avLst/>
              <a:gdLst/>
              <a:ahLst/>
              <a:cxnLst/>
              <a:rect l="l" t="t" r="r" b="b"/>
              <a:pathLst>
                <a:path w="11735562" h="3973195">
                  <a:moveTo>
                    <a:pt x="0" y="0"/>
                  </a:moveTo>
                  <a:lnTo>
                    <a:pt x="11735562" y="0"/>
                  </a:lnTo>
                  <a:lnTo>
                    <a:pt x="11735562" y="3973195"/>
                  </a:lnTo>
                  <a:lnTo>
                    <a:pt x="0" y="3973195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9301429" y="3201105"/>
            <a:ext cx="8305409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Github Repository Link and PRISM Portal Registration Status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060168" y="9733788"/>
            <a:ext cx="3227832" cy="554003"/>
            <a:chOff x="0" y="0"/>
            <a:chExt cx="4303776" cy="7386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303774" cy="738664"/>
            </a:xfrm>
            <a:custGeom>
              <a:avLst/>
              <a:gdLst/>
              <a:ahLst/>
              <a:cxnLst/>
              <a:rect l="l" t="t" r="r" b="b"/>
              <a:pathLst>
                <a:path w="4303774" h="738664">
                  <a:moveTo>
                    <a:pt x="0" y="0"/>
                  </a:moveTo>
                  <a:lnTo>
                    <a:pt x="4303774" y="0"/>
                  </a:lnTo>
                  <a:lnTo>
                    <a:pt x="4303774" y="738664"/>
                  </a:lnTo>
                  <a:lnTo>
                    <a:pt x="0" y="738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303776" cy="75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Date: 23/01/26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888" y="1050617"/>
            <a:ext cx="17760763" cy="1386211"/>
            <a:chOff x="0" y="0"/>
            <a:chExt cx="23681017" cy="18482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055" cy="1848231"/>
            </a:xfrm>
            <a:custGeom>
              <a:avLst/>
              <a:gdLst/>
              <a:ahLst/>
              <a:cxnLst/>
              <a:rect l="l" t="t" r="r" b="b"/>
              <a:pathLst>
                <a:path w="23681055" h="1848231">
                  <a:moveTo>
                    <a:pt x="0" y="0"/>
                  </a:moveTo>
                  <a:lnTo>
                    <a:pt x="23681055" y="0"/>
                  </a:lnTo>
                  <a:lnTo>
                    <a:pt x="23681055" y="1848231"/>
                  </a:lnTo>
                  <a:lnTo>
                    <a:pt x="0" y="1848231"/>
                  </a:lnTo>
                  <a:close/>
                </a:path>
              </a:pathLst>
            </a:custGeom>
            <a:solidFill>
              <a:srgbClr val="40404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" y="157572"/>
            <a:ext cx="253994" cy="723795"/>
            <a:chOff x="0" y="0"/>
            <a:chExt cx="338658" cy="9650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8709" cy="965073"/>
            </a:xfrm>
            <a:custGeom>
              <a:avLst/>
              <a:gdLst/>
              <a:ahLst/>
              <a:cxnLst/>
              <a:rect l="l" t="t" r="r" b="b"/>
              <a:pathLst>
                <a:path w="338709" h="965073">
                  <a:moveTo>
                    <a:pt x="0" y="0"/>
                  </a:moveTo>
                  <a:lnTo>
                    <a:pt x="338709" y="0"/>
                  </a:lnTo>
                  <a:lnTo>
                    <a:pt x="338709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0E409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72843" y="219380"/>
            <a:ext cx="15035012" cy="600161"/>
            <a:chOff x="0" y="0"/>
            <a:chExt cx="20046683" cy="800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046686" cy="800220"/>
            </a:xfrm>
            <a:custGeom>
              <a:avLst/>
              <a:gdLst/>
              <a:ahLst/>
              <a:cxnLst/>
              <a:rect l="l" t="t" r="r" b="b"/>
              <a:pathLst>
                <a:path w="20046686" h="800220">
                  <a:moveTo>
                    <a:pt x="0" y="0"/>
                  </a:moveTo>
                  <a:lnTo>
                    <a:pt x="20046686" y="0"/>
                  </a:lnTo>
                  <a:lnTo>
                    <a:pt x="20046686" y="800220"/>
                  </a:lnTo>
                  <a:lnTo>
                    <a:pt x="0" y="80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0046683" cy="8668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Work-let Name: </a:t>
              </a:r>
              <a:r>
                <a:rPr lang="en-US" sz="30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Multi-Level Detail Enhancement Detection for RAW DNG Buffers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6949" y="157572"/>
            <a:ext cx="112947" cy="723795"/>
            <a:chOff x="0" y="0"/>
            <a:chExt cx="150597" cy="96506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622" cy="965073"/>
            </a:xfrm>
            <a:custGeom>
              <a:avLst/>
              <a:gdLst/>
              <a:ahLst/>
              <a:cxnLst/>
              <a:rect l="l" t="t" r="r" b="b"/>
              <a:pathLst>
                <a:path w="150622" h="965073">
                  <a:moveTo>
                    <a:pt x="0" y="0"/>
                  </a:moveTo>
                  <a:lnTo>
                    <a:pt x="150622" y="0"/>
                  </a:lnTo>
                  <a:lnTo>
                    <a:pt x="150622" y="965073"/>
                  </a:lnTo>
                  <a:lnTo>
                    <a:pt x="0" y="965073"/>
                  </a:lnTo>
                  <a:close/>
                </a:path>
              </a:pathLst>
            </a:custGeom>
            <a:solidFill>
              <a:srgbClr val="BFBFB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351177" y="1100147"/>
            <a:ext cx="26109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70AD47"/>
                </a:solidFill>
                <a:latin typeface="Arimo Bold"/>
                <a:ea typeface="Arimo Bold"/>
                <a:cs typeface="Arimo Bold"/>
                <a:sym typeface="Arimo Bold"/>
              </a:rPr>
              <a:t>Worklet Details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0888" y="1509722"/>
            <a:ext cx="6327886" cy="62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755" lvl="1" indent="-162878" algn="l">
              <a:lnSpc>
                <a:spcPts val="2160"/>
              </a:lnSpc>
              <a:buAutoNum type="arabicPeriod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Worklet ID: 25VI40TU</a:t>
            </a:r>
          </a:p>
          <a:p>
            <a:pPr marL="325755" lvl="1" indent="-162878" algn="l">
              <a:lnSpc>
                <a:spcPts val="2160"/>
              </a:lnSpc>
              <a:buAutoNum type="arabicPeriod"/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College Name : Thapar Institute of Engineering and Technology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413118" y="157572"/>
            <a:ext cx="1874872" cy="712365"/>
          </a:xfrm>
          <a:custGeom>
            <a:avLst/>
            <a:gdLst/>
            <a:ahLst/>
            <a:cxnLst/>
            <a:rect l="l" t="t" r="r" b="b"/>
            <a:pathLst>
              <a:path w="1874872" h="712365">
                <a:moveTo>
                  <a:pt x="0" y="0"/>
                </a:moveTo>
                <a:lnTo>
                  <a:pt x="1874872" y="0"/>
                </a:lnTo>
                <a:lnTo>
                  <a:pt x="1874872" y="712365"/>
                </a:lnTo>
                <a:lnTo>
                  <a:pt x="0" y="712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60" t="-38358" r="-4573" b="-50908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250888" y="3055687"/>
            <a:ext cx="17760763" cy="3024197"/>
            <a:chOff x="0" y="0"/>
            <a:chExt cx="23681017" cy="40322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681055" cy="4032250"/>
            </a:xfrm>
            <a:custGeom>
              <a:avLst/>
              <a:gdLst/>
              <a:ahLst/>
              <a:cxnLst/>
              <a:rect l="l" t="t" r="r" b="b"/>
              <a:pathLst>
                <a:path w="23681055" h="4032250">
                  <a:moveTo>
                    <a:pt x="0" y="0"/>
                  </a:moveTo>
                  <a:lnTo>
                    <a:pt x="23681055" y="0"/>
                  </a:lnTo>
                  <a:lnTo>
                    <a:pt x="23681055" y="4032250"/>
                  </a:lnTo>
                  <a:lnTo>
                    <a:pt x="0" y="4032250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23681017" cy="40513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60"/>
                </a:lnSpc>
              </a:pPr>
              <a:endParaRPr lang="en-US" sz="1800" dirty="0">
                <a:solidFill>
                  <a:srgbClr val="0D0D0D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56949" y="3346161"/>
            <a:ext cx="1217453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Professor Comments (To be filled in and presented by professor (Either)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5060168" y="9733788"/>
            <a:ext cx="3227832" cy="554003"/>
            <a:chOff x="0" y="0"/>
            <a:chExt cx="4303776" cy="7386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03774" cy="738664"/>
            </a:xfrm>
            <a:custGeom>
              <a:avLst/>
              <a:gdLst/>
              <a:ahLst/>
              <a:cxnLst/>
              <a:rect l="l" t="t" r="r" b="b"/>
              <a:pathLst>
                <a:path w="4303774" h="738664">
                  <a:moveTo>
                    <a:pt x="0" y="0"/>
                  </a:moveTo>
                  <a:lnTo>
                    <a:pt x="4303774" y="0"/>
                  </a:lnTo>
                  <a:lnTo>
                    <a:pt x="4303774" y="738664"/>
                  </a:lnTo>
                  <a:lnTo>
                    <a:pt x="0" y="7386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4303776" cy="7577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Date: 23/01/26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50888" y="6258630"/>
            <a:ext cx="17760763" cy="3395624"/>
            <a:chOff x="0" y="0"/>
            <a:chExt cx="23681017" cy="452749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681055" cy="4527550"/>
            </a:xfrm>
            <a:custGeom>
              <a:avLst/>
              <a:gdLst/>
              <a:ahLst/>
              <a:cxnLst/>
              <a:rect l="l" t="t" r="r" b="b"/>
              <a:pathLst>
                <a:path w="23681055" h="4527550">
                  <a:moveTo>
                    <a:pt x="0" y="0"/>
                  </a:moveTo>
                  <a:lnTo>
                    <a:pt x="23681055" y="0"/>
                  </a:lnTo>
                  <a:lnTo>
                    <a:pt x="23681055" y="4527550"/>
                  </a:lnTo>
                  <a:lnTo>
                    <a:pt x="0" y="4527550"/>
                  </a:ln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430473" y="6455845"/>
            <a:ext cx="614830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E4094"/>
                </a:solidFill>
                <a:latin typeface="Arimo Bold"/>
                <a:ea typeface="Arimo Bold"/>
                <a:cs typeface="Arimo Bold"/>
                <a:sym typeface="Arimo Bold"/>
              </a:rPr>
              <a:t>COMPUTATION RESOURCE Details: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8389" y="7060044"/>
            <a:ext cx="7699372" cy="91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Primary: Google Colab (GPU enabled)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Secondary (backup): College Lab GPU / High-end PC (if needed)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Workload: preprocessing + enhancement metrics + training classification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399</Words>
  <Application>Microsoft Office PowerPoint</Application>
  <PresentationFormat>Custom</PresentationFormat>
  <Paragraphs>67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Arimo Bold</vt:lpstr>
      <vt:lpstr>Calibri (MS) Bold</vt:lpstr>
      <vt:lpstr>Calibri</vt:lpstr>
      <vt:lpstr>Arial</vt:lpstr>
      <vt:lpstr>Calibri (MS)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Prismf.pptx</dc:title>
  <dc:creator>Isha Gupta</dc:creator>
  <cp:lastModifiedBy>Isha Gupta</cp:lastModifiedBy>
  <cp:revision>3</cp:revision>
  <dcterms:created xsi:type="dcterms:W3CDTF">2006-08-16T00:00:00Z</dcterms:created>
  <dcterms:modified xsi:type="dcterms:W3CDTF">2026-01-23T04:56:38Z</dcterms:modified>
  <dc:identifier>DAG_K-ILTGc</dc:identifier>
</cp:coreProperties>
</file>